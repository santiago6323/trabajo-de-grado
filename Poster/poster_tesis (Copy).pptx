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media/image1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7.png" ContentType="image/png"/>
  <Override PartName="/ppt/media/image11.png" ContentType="image/png"/>
  <Override PartName="/ppt/media/image2.png" ContentType="image/png"/>
  <Override PartName="/ppt/media/image8.svg" ContentType="image/svg"/>
  <Override PartName="/ppt/media/image9.png" ContentType="image/png"/>
  <Override PartName="/ppt/media/image13.png" ContentType="image/png"/>
  <Override PartName="/ppt/media/image4.png" ContentType="image/png"/>
  <Override PartName="/ppt/media/image12.png" ContentType="image/png"/>
  <Override PartName="/ppt/media/image3.png" ContentType="image/png"/>
  <Override PartName="/ppt/charts/chart1.xml" ContentType="application/vnd.openxmlformats-officedocument.drawingml.char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32399288" cy="39600188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1" sz="2400" spc="-1" strike="noStrike">
                <a:solidFill>
                  <a:srgbClr val="007297"/>
                </a:solidFill>
                <a:latin typeface="Arial"/>
                <a:ea typeface="DejaVu Sans"/>
              </a:defRPr>
            </a:pPr>
            <a:r>
              <a:rPr b="1" sz="2400" spc="-1" strike="noStrike">
                <a:solidFill>
                  <a:srgbClr val="007297"/>
                </a:solidFill>
                <a:latin typeface="Arial"/>
                <a:ea typeface="DejaVu Sans"/>
              </a:rPr>
              <a:t>Exactitud en prueba (%) por estrategia y duración de ventana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6 s</c:v>
                </c:pt>
              </c:strCache>
            </c:strRef>
          </c:tx>
          <c:spPr>
            <a:solidFill>
              <a:srgbClr val="007297"/>
            </a:solidFill>
            <a:ln w="0">
              <a:noFill/>
            </a:ln>
          </c:spPr>
          <c:invertIfNegative val="0"/>
          <c:dLbls>
            <c:numFmt formatCode="0.0" sourceLinked="0"/>
            <c:txPr>
              <a:bodyPr wrap="square"/>
              <a:lstStyle/>
              <a:p>
                <a:pPr>
                  <a:defRPr b="0" sz="1500" spc="-1" strike="noStrike">
                    <a:solidFill>
                      <a:srgbClr val="262626"/>
                    </a:solidFill>
                    <a:latin typeface="Arial"/>
                    <a:ea typeface="DejaVu San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multiLvlStrRef>
              <c:f>categories</c:f>
              <c:multiLvlStrCache>
                <c:ptCount val="9"/>
                <c:lvl>
                  <c:pt idx="1">
                    <c:v>Prog.</c:v>
                  </c:pt>
                  <c:pt idx="2">
                    <c:v>Intel.</c:v>
                  </c:pt>
                  <c:pt idx="3">
                    <c:v>Est.</c:v>
                  </c:pt>
                  <c:pt idx="4">
                    <c:v>Prog.</c:v>
                  </c:pt>
                  <c:pt idx="5">
                    <c:v>Intel.</c:v>
                  </c:pt>
                  <c:pt idx="6">
                    <c:v>Est.</c:v>
                  </c:pt>
                  <c:pt idx="7">
                    <c:v>Prog.</c:v>
                  </c:pt>
                  <c:pt idx="8">
                    <c:v>Intel.</c:v>
                  </c:pt>
                </c:lvl>
                <c:lvl>
                  <c:pt idx="0">
                    <c:v>Línea base</c:v>
                  </c:pt>
                  <c:pt idx="1">
                    <c:v>Descong.</c:v>
                  </c:pt>
                  <c:pt idx="3">
                    <c:v>Bottleneck</c:v>
                  </c:pt>
                  <c:pt idx="6">
                    <c:v>LoRA</c:v>
                  </c:pt>
                </c:lvl>
              </c:multiLvlStrCache>
            </c:multiLvlStrRef>
          </c:cat>
          <c:val>
            <c:numRef>
              <c:f>0</c:f>
              <c:numCache>
                <c:formatCode>General</c:formatCode>
                <c:ptCount val="9"/>
                <c:pt idx="0">
                  <c:v>66.7</c:v>
                </c:pt>
                <c:pt idx="1">
                  <c:v>72.9</c:v>
                </c:pt>
                <c:pt idx="2">
                  <c:v>68.8</c:v>
                </c:pt>
                <c:pt idx="3">
                  <c:v>64.6</c:v>
                </c:pt>
                <c:pt idx="4">
                  <c:v>77.1</c:v>
                </c:pt>
                <c:pt idx="5">
                  <c:v>83.3</c:v>
                </c:pt>
                <c:pt idx="6">
                  <c:v>62.5</c:v>
                </c:pt>
                <c:pt idx="7">
                  <c:v>77.1</c:v>
                </c:pt>
                <c:pt idx="8">
                  <c:v>79.2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7.5 s</c:v>
                </c:pt>
              </c:strCache>
            </c:strRef>
          </c:tx>
          <c:spPr>
            <a:solidFill>
              <a:srgbClr val="93d500"/>
            </a:solidFill>
            <a:ln w="0">
              <a:noFill/>
            </a:ln>
          </c:spPr>
          <c:invertIfNegative val="0"/>
          <c:dLbls>
            <c:numFmt formatCode="0.0" sourceLinked="0"/>
            <c:txPr>
              <a:bodyPr wrap="square"/>
              <a:lstStyle/>
              <a:p>
                <a:pPr>
                  <a:defRPr b="0" sz="1500" spc="-1" strike="noStrike">
                    <a:solidFill>
                      <a:srgbClr val="262626"/>
                    </a:solidFill>
                    <a:latin typeface="Arial"/>
                    <a:ea typeface="DejaVu San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multiLvlStrRef>
              <c:f>categories</c:f>
              <c:multiLvlStrCache>
                <c:ptCount val="9"/>
                <c:lvl>
                  <c:pt idx="1">
                    <c:v>Prog.</c:v>
                  </c:pt>
                  <c:pt idx="2">
                    <c:v>Intel.</c:v>
                  </c:pt>
                  <c:pt idx="3">
                    <c:v>Est.</c:v>
                  </c:pt>
                  <c:pt idx="4">
                    <c:v>Prog.</c:v>
                  </c:pt>
                  <c:pt idx="5">
                    <c:v>Intel.</c:v>
                  </c:pt>
                  <c:pt idx="6">
                    <c:v>Est.</c:v>
                  </c:pt>
                  <c:pt idx="7">
                    <c:v>Prog.</c:v>
                  </c:pt>
                  <c:pt idx="8">
                    <c:v>Intel.</c:v>
                  </c:pt>
                </c:lvl>
                <c:lvl>
                  <c:pt idx="0">
                    <c:v>Línea base</c:v>
                  </c:pt>
                  <c:pt idx="1">
                    <c:v>Descong.</c:v>
                  </c:pt>
                  <c:pt idx="3">
                    <c:v>Bottleneck</c:v>
                  </c:pt>
                  <c:pt idx="6">
                    <c:v>LoRA</c:v>
                  </c:pt>
                </c:lvl>
              </c:multiLvlStrCache>
            </c:multiLvlStrRef>
          </c:cat>
          <c:val>
            <c:numRef>
              <c:f>1</c:f>
              <c:numCache>
                <c:formatCode>General</c:formatCode>
                <c:ptCount val="9"/>
                <c:pt idx="0">
                  <c:v>72.9</c:v>
                </c:pt>
                <c:pt idx="1">
                  <c:v>68.8</c:v>
                </c:pt>
                <c:pt idx="2">
                  <c:v>70.8</c:v>
                </c:pt>
                <c:pt idx="3">
                  <c:v>60.4</c:v>
                </c:pt>
                <c:pt idx="4">
                  <c:v>77.1</c:v>
                </c:pt>
                <c:pt idx="5">
                  <c:v>75</c:v>
                </c:pt>
                <c:pt idx="6">
                  <c:v>72.9</c:v>
                </c:pt>
                <c:pt idx="7">
                  <c:v>77.1</c:v>
                </c:pt>
                <c:pt idx="8">
                  <c:v>77.1</c:v>
                </c:pt>
              </c:numCache>
            </c:numRef>
          </c:val>
        </c:ser>
        <c:gapWidth val="60"/>
        <c:overlap val="-5"/>
        <c:axId val="62400604"/>
        <c:axId val="44627633"/>
      </c:barChart>
      <c:catAx>
        <c:axId val="62400604"/>
        <c:scaling>
          <c:orientation val="minMax"/>
        </c:scaling>
        <c:delete val="0"/>
        <c:axPos val="b"/>
        <c:numFmt formatCode="[$-409]mm/dd/yyyy" sourceLinked="0"/>
        <c:majorTickMark val="out"/>
        <c:minorTickMark val="none"/>
        <c:tickLblPos val="nextTo"/>
        <c:spPr>
          <a:ln w="6480">
            <a:solidFill>
              <a:srgbClr val="808080"/>
            </a:solidFill>
            <a:round/>
          </a:ln>
        </c:spPr>
        <c:txPr>
          <a:bodyPr/>
          <a:lstStyle/>
          <a:p>
            <a:pPr>
              <a:defRPr b="0" sz="1800" spc="-1" strike="noStrike">
                <a:solidFill>
                  <a:srgbClr val="000000"/>
                </a:solidFill>
                <a:latin typeface="Arial"/>
                <a:ea typeface="DejaVu Sans"/>
              </a:defRPr>
            </a:pPr>
          </a:p>
        </c:txPr>
        <c:crossAx val="44627633"/>
        <c:crosses val="autoZero"/>
        <c:auto val="1"/>
        <c:lblAlgn val="ctr"/>
        <c:lblOffset val="100"/>
        <c:noMultiLvlLbl val="0"/>
      </c:catAx>
      <c:valAx>
        <c:axId val="44627633"/>
        <c:scaling>
          <c:orientation val="minMax"/>
          <c:max val="90"/>
          <c:min val="50"/>
        </c:scaling>
        <c:delete val="0"/>
        <c:axPos val="l"/>
        <c:majorGridlines>
          <c:spPr>
            <a:ln w="6480">
              <a:solidFill>
                <a:srgbClr val="d9d9d9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sz="1800" spc="-1" strike="noStrike">
                <a:solidFill>
                  <a:srgbClr val="000000"/>
                </a:solidFill>
                <a:latin typeface="Arial"/>
                <a:ea typeface="DejaVu Sans"/>
              </a:defRPr>
            </a:pPr>
          </a:p>
        </c:txPr>
        <c:crossAx val="62400604"/>
        <c:crosses val="autoZero"/>
        <c:crossBetween val="between"/>
        <c:majorUnit val="10"/>
      </c:valAx>
      <c:spPr>
        <a:noFill/>
        <a:ln w="0">
          <a:noFill/>
        </a:ln>
      </c:spPr>
    </c:plotArea>
    <c:legend>
      <c:legendPos val="t"/>
      <c:overlay val="0"/>
      <c:spPr>
        <a:noFill/>
        <a:ln w="0">
          <a:noFill/>
        </a:ln>
      </c:spPr>
      <c:txPr>
        <a:bodyPr/>
        <a:lstStyle/>
        <a:p>
          <a:pPr>
            <a:defRPr b="0" sz="2000" spc="-1" strike="noStrike">
              <a:solidFill>
                <a:srgbClr val="000000"/>
              </a:solidFill>
              <a:latin typeface="Arial"/>
              <a:ea typeface="DejaVu Sans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2430000" y="6480720"/>
            <a:ext cx="27538560" cy="137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1619640" y="9266400"/>
            <a:ext cx="29158920" cy="2296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8D00B0C-0FD9-4C93-BB5E-B2B5416D473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2430000" y="6480720"/>
            <a:ext cx="27538560" cy="137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10732320" y="36703440"/>
            <a:ext cx="10933920" cy="2107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22881960" y="36703440"/>
            <a:ext cx="7289280" cy="2107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425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0173506-A76D-4701-94F3-1FC569968D7E}" type="slidenum">
              <a:rPr b="0" lang="en-US" sz="425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42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2227320" y="36703440"/>
            <a:ext cx="7289280" cy="2107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1619640" y="9266400"/>
            <a:ext cx="29158920" cy="2296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svg"/><Relationship Id="rId9" Type="http://schemas.openxmlformats.org/officeDocument/2006/relationships/image" Target="../media/image5.png"/><Relationship Id="rId10" Type="http://schemas.openxmlformats.org/officeDocument/2006/relationships/image" Target="../media/image5.png"/><Relationship Id="rId11" Type="http://schemas.openxmlformats.org/officeDocument/2006/relationships/image" Target="../media/image5.png"/><Relationship Id="rId12" Type="http://schemas.openxmlformats.org/officeDocument/2006/relationships/image" Target="../media/image9.png"/><Relationship Id="rId13" Type="http://schemas.openxmlformats.org/officeDocument/2006/relationships/image" Target="../media/image10.png"/><Relationship Id="rId14" Type="http://schemas.openxmlformats.org/officeDocument/2006/relationships/image" Target="../media/image11.png"/><Relationship Id="rId15" Type="http://schemas.openxmlformats.org/officeDocument/2006/relationships/image" Target="../media/image5.png"/><Relationship Id="rId16" Type="http://schemas.openxmlformats.org/officeDocument/2006/relationships/image" Target="../media/image5.png"/><Relationship Id="rId17" Type="http://schemas.openxmlformats.org/officeDocument/2006/relationships/image" Target="../media/image5.png"/><Relationship Id="rId18" Type="http://schemas.openxmlformats.org/officeDocument/2006/relationships/image" Target="../media/image5.png"/><Relationship Id="rId19" Type="http://schemas.openxmlformats.org/officeDocument/2006/relationships/chart" Target="../charts/chart1.xml"/><Relationship Id="rId20" Type="http://schemas.openxmlformats.org/officeDocument/2006/relationships/image" Target="../media/image12.png"/><Relationship Id="rId21" Type="http://schemas.openxmlformats.org/officeDocument/2006/relationships/image" Target="../media/image13.png"/><Relationship Id="rId22" Type="http://schemas.openxmlformats.org/officeDocument/2006/relationships/image" Target="../media/image14.png"/><Relationship Id="rId2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4"/>
          <p:cNvSpPr/>
          <p:nvPr/>
        </p:nvSpPr>
        <p:spPr>
          <a:xfrm>
            <a:off x="13320" y="36938880"/>
            <a:ext cx="32378760" cy="2244240"/>
          </a:xfrm>
          <a:prstGeom prst="rect">
            <a:avLst/>
          </a:prstGeom>
          <a:solidFill>
            <a:srgbClr val="007297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s-CO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" name="Rectángulo 1"/>
          <p:cNvSpPr/>
          <p:nvPr/>
        </p:nvSpPr>
        <p:spPr>
          <a:xfrm>
            <a:off x="-9720" y="-122040"/>
            <a:ext cx="32494320" cy="4886640"/>
          </a:xfrm>
          <a:prstGeom prst="rect">
            <a:avLst/>
          </a:prstGeom>
          <a:solidFill>
            <a:srgbClr val="007297"/>
          </a:solidFill>
          <a:ln w="12600">
            <a:solidFill>
              <a:schemeClr val="accent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s-CO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" name="Rectángulo 2"/>
          <p:cNvSpPr/>
          <p:nvPr/>
        </p:nvSpPr>
        <p:spPr>
          <a:xfrm>
            <a:off x="0" y="4702680"/>
            <a:ext cx="32484600" cy="2323080"/>
          </a:xfrm>
          <a:prstGeom prst="rect">
            <a:avLst/>
          </a:prstGeom>
          <a:solidFill>
            <a:srgbClr val="0083ac"/>
          </a:solidFill>
          <a:ln w="12600">
            <a:solidFill>
              <a:srgbClr val="4472c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s-CO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" name="TextBox 209"/>
          <p:cNvSpPr/>
          <p:nvPr/>
        </p:nvSpPr>
        <p:spPr>
          <a:xfrm>
            <a:off x="3492360" y="8402760"/>
            <a:ext cx="599580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6000" spc="-1" strike="noStrike">
                <a:solidFill>
                  <a:srgbClr val="007297"/>
                </a:solidFill>
                <a:latin typeface="Arial"/>
                <a:ea typeface="DejaVu Sans"/>
              </a:rPr>
              <a:t>Introducción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Oval 211"/>
          <p:cNvSpPr/>
          <p:nvPr/>
        </p:nvSpPr>
        <p:spPr>
          <a:xfrm>
            <a:off x="1234440" y="8001000"/>
            <a:ext cx="1849680" cy="1849680"/>
          </a:xfrm>
          <a:prstGeom prst="ellipse">
            <a:avLst/>
          </a:prstGeom>
          <a:solidFill>
            <a:srgbClr val="93d5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cxnSp>
        <p:nvCxnSpPr>
          <p:cNvPr id="12" name="Straight Connector 29"/>
          <p:cNvCxnSpPr/>
          <p:nvPr/>
        </p:nvCxnSpPr>
        <p:spPr>
          <a:xfrm>
            <a:off x="1147680" y="7580160"/>
            <a:ext cx="18856800" cy="720"/>
          </a:xfrm>
          <a:prstGeom prst="straightConnector1">
            <a:avLst/>
          </a:prstGeom>
          <a:ln w="6480">
            <a:solidFill>
              <a:srgbClr val="2ab9cb"/>
            </a:solidFill>
            <a:miter/>
          </a:ln>
        </p:spPr>
      </p:cxnSp>
      <p:sp>
        <p:nvSpPr>
          <p:cNvPr id="13" name="TextBox 35"/>
          <p:cNvSpPr/>
          <p:nvPr/>
        </p:nvSpPr>
        <p:spPr>
          <a:xfrm>
            <a:off x="1188720" y="10012680"/>
            <a:ext cx="8960400" cy="448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457200">
              <a:lnSpc>
                <a:spcPct val="100000"/>
              </a:lnSpc>
              <a:spcAft>
                <a:spcPts val="1001"/>
              </a:spcAft>
            </a:pPr>
            <a:r>
              <a:rPr b="0" lang="es-CO" sz="28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Open Sans"/>
              </a:rPr>
              <a:t>La enfermedad de Alzheimer (AD) es la causa más frecuente de demencia y su detección temprana depende de evaluaciones clínicas costosas y poco accesibles. El habla espontánea es un </a:t>
            </a:r>
            <a:r>
              <a:rPr b="1" lang="es-CO" sz="28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Open Sans"/>
              </a:rPr>
              <a:t>biomarcador no invasivo</a:t>
            </a:r>
            <a:r>
              <a:rPr b="0" lang="es-CO" sz="28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Open Sans"/>
              </a:rPr>
              <a:t>: refleja alteraciones léxicas, semánticas y prosódicas asociadas al deterioro cognitivo.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  <a:spcAft>
                <a:spcPts val="1001"/>
              </a:spcAft>
            </a:pPr>
            <a:r>
              <a:rPr b="0" lang="es-CO" sz="28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Open Sans"/>
              </a:rPr>
              <a:t>Los modelos fundacionales auto-supervisados como </a:t>
            </a:r>
            <a:r>
              <a:rPr b="1" lang="es-CO" sz="28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Open Sans"/>
              </a:rPr>
              <a:t>wav2vec 2.0</a:t>
            </a:r>
            <a:r>
              <a:rPr b="0" lang="es-CO" sz="28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Open Sans"/>
              </a:rPr>
              <a:t> ofrecen representaciones robustas del habla, pero ajustar todos sus parámetros con bases de datos clínicas pequeñas conduce al sobreajuste.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TextBox 39"/>
          <p:cNvSpPr/>
          <p:nvPr/>
        </p:nvSpPr>
        <p:spPr>
          <a:xfrm>
            <a:off x="11064240" y="8046720"/>
            <a:ext cx="8960400" cy="39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457200">
              <a:lnSpc>
                <a:spcPct val="100000"/>
              </a:lnSpc>
            </a:pPr>
            <a:r>
              <a:rPr b="0" lang="es-CO" sz="28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Open Sans"/>
              </a:rPr>
              <a:t>En este trabajo se evaluaron estrategias de </a:t>
            </a:r>
            <a:r>
              <a:rPr b="1" lang="es-CO" sz="28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Open Sans"/>
              </a:rPr>
              <a:t>ajuste eficiente de parámetros (PEFT)</a:t>
            </a:r>
            <a:r>
              <a:rPr b="0" lang="es-CO" sz="28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Open Sans"/>
              </a:rPr>
              <a:t>, adaptadores bottleneck y LoRA, junto con el descongelamiento parcial de capas. Cada mecanismo se aplicó en tres ubicaciones del Transformer: </a:t>
            </a:r>
            <a:r>
              <a:rPr b="1" lang="es-CO" sz="28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Open Sans"/>
              </a:rPr>
              <a:t>estándar, progresiva e inteligente</a:t>
            </a:r>
            <a:r>
              <a:rPr b="0" lang="es-CO" sz="28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Open Sans"/>
              </a:rPr>
              <a:t>, esta última guiada por el análisis por capas de Pasad et al. Todas se compararon con wav2vec 2.0 congelado como extractor de características.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TextBox 151"/>
          <p:cNvSpPr/>
          <p:nvPr/>
        </p:nvSpPr>
        <p:spPr>
          <a:xfrm>
            <a:off x="3376440" y="18626040"/>
            <a:ext cx="599580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6000" spc="-1" strike="noStrike">
                <a:solidFill>
                  <a:srgbClr val="007297"/>
                </a:solidFill>
                <a:latin typeface="Arial"/>
                <a:ea typeface="DejaVu Sans"/>
              </a:rPr>
              <a:t>Metodología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Oval 154"/>
          <p:cNvSpPr/>
          <p:nvPr/>
        </p:nvSpPr>
        <p:spPr>
          <a:xfrm>
            <a:off x="1234440" y="18162000"/>
            <a:ext cx="1849680" cy="1849680"/>
          </a:xfrm>
          <a:prstGeom prst="ellipse">
            <a:avLst/>
          </a:prstGeom>
          <a:solidFill>
            <a:srgbClr val="93d5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cxnSp>
        <p:nvCxnSpPr>
          <p:cNvPr id="17" name="Straight Connector 158"/>
          <p:cNvCxnSpPr/>
          <p:nvPr/>
        </p:nvCxnSpPr>
        <p:spPr>
          <a:xfrm>
            <a:off x="1188720" y="17933400"/>
            <a:ext cx="18837360" cy="720"/>
          </a:xfrm>
          <a:prstGeom prst="straightConnector1">
            <a:avLst/>
          </a:prstGeom>
          <a:ln w="6480">
            <a:solidFill>
              <a:srgbClr val="2ab9cb"/>
            </a:solidFill>
            <a:miter/>
          </a:ln>
        </p:spPr>
      </p:cxnSp>
      <p:cxnSp>
        <p:nvCxnSpPr>
          <p:cNvPr id="18" name="Straight Connector 158"/>
          <p:cNvCxnSpPr/>
          <p:nvPr/>
        </p:nvCxnSpPr>
        <p:spPr>
          <a:xfrm>
            <a:off x="1188720" y="29551680"/>
            <a:ext cx="18837360" cy="720"/>
          </a:xfrm>
          <a:prstGeom prst="straightConnector1">
            <a:avLst/>
          </a:prstGeom>
          <a:ln w="6480">
            <a:solidFill>
              <a:srgbClr val="2ab9cb"/>
            </a:solidFill>
            <a:miter/>
          </a:ln>
        </p:spPr>
      </p:cxnSp>
      <p:sp>
        <p:nvSpPr>
          <p:cNvPr id="19" name="TextBox 165"/>
          <p:cNvSpPr/>
          <p:nvPr/>
        </p:nvSpPr>
        <p:spPr>
          <a:xfrm>
            <a:off x="3395880" y="30254040"/>
            <a:ext cx="599580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6000" spc="-1" strike="noStrike">
                <a:solidFill>
                  <a:srgbClr val="007297"/>
                </a:solidFill>
                <a:latin typeface="Arial"/>
                <a:ea typeface="DejaVu Sans"/>
              </a:rPr>
              <a:t>Resultados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Oval 169"/>
          <p:cNvSpPr/>
          <p:nvPr/>
        </p:nvSpPr>
        <p:spPr>
          <a:xfrm>
            <a:off x="1234440" y="29780280"/>
            <a:ext cx="1849680" cy="1849680"/>
          </a:xfrm>
          <a:prstGeom prst="ellipse">
            <a:avLst/>
          </a:prstGeom>
          <a:solidFill>
            <a:srgbClr val="93d5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21" name="TextBox 173"/>
          <p:cNvSpPr/>
          <p:nvPr/>
        </p:nvSpPr>
        <p:spPr>
          <a:xfrm>
            <a:off x="1188720" y="31818240"/>
            <a:ext cx="7314480" cy="474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s-CO" sz="27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Open Sans"/>
              </a:rPr>
              <a:t>Con ventanas de 6 s, el adaptador </a:t>
            </a:r>
            <a:r>
              <a:rPr b="1" lang="es-CO" sz="27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Open Sans"/>
              </a:rPr>
              <a:t>bottleneck inteligente</a:t>
            </a:r>
            <a:r>
              <a:rPr b="0" lang="es-CO" sz="27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Open Sans"/>
              </a:rPr>
              <a:t> (Houlsby, bloque B) logró el mejor desempeño: </a:t>
            </a:r>
            <a:r>
              <a:rPr b="1" lang="es-CO" sz="27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Open Sans"/>
              </a:rPr>
              <a:t>83.3 %</a:t>
            </a:r>
            <a:r>
              <a:rPr b="0" lang="es-CO" sz="27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Open Sans"/>
              </a:rPr>
              <a:t> de exactitud, sensibilidad y especificidad (AUC = 0.873), frente a 66.7 % del baseline.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s-CO" sz="27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Open Sans"/>
              </a:rPr>
              <a:t>Con 7.5 s el baseline fue más exigente (72.9 %), pero </a:t>
            </a:r>
            <a:r>
              <a:rPr b="1" lang="es-CO" sz="27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Open Sans"/>
              </a:rPr>
              <a:t>bottleneck y LoRA progresivos e inteligentes</a:t>
            </a:r>
            <a:r>
              <a:rPr b="0" lang="es-CO" sz="27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Open Sans"/>
              </a:rPr>
              <a:t> volvieron a superarla (75.0–77.1 %). Las variantes estándar y el descongelamiento parcial no la mejoraron de forma consistente.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Rectangle 201"/>
          <p:cNvSpPr/>
          <p:nvPr/>
        </p:nvSpPr>
        <p:spPr>
          <a:xfrm>
            <a:off x="21764520" y="25492320"/>
            <a:ext cx="9241200" cy="1108080"/>
          </a:xfrm>
          <a:prstGeom prst="rect">
            <a:avLst/>
          </a:prstGeom>
          <a:solidFill>
            <a:srgbClr val="e6e6e6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23" name="TextBox 205"/>
          <p:cNvSpPr/>
          <p:nvPr/>
        </p:nvSpPr>
        <p:spPr>
          <a:xfrm>
            <a:off x="22143600" y="25584840"/>
            <a:ext cx="589644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6000" spc="-1" strike="noStrike">
                <a:solidFill>
                  <a:srgbClr val="007297"/>
                </a:solidFill>
                <a:latin typeface="Arial"/>
                <a:ea typeface="Open Sans"/>
              </a:rPr>
              <a:t>Conclusiones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Box 219"/>
          <p:cNvSpPr/>
          <p:nvPr/>
        </p:nvSpPr>
        <p:spPr>
          <a:xfrm>
            <a:off x="22814280" y="27111960"/>
            <a:ext cx="8503200" cy="17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s-CO" sz="27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Open Sans"/>
              </a:rPr>
              <a:t>Bottleneck y LoRA</a:t>
            </a:r>
            <a:r>
              <a:rPr b="0" lang="es-CO" sz="27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Open Sans"/>
              </a:rPr>
              <a:t>, con estrategias progresiva e inteligente, superaron a la línea base con 6 s y 7.5 s: PEFT es viable para adaptar wav2vec 2.0 con pocos datos.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TextBox 234"/>
          <p:cNvSpPr/>
          <p:nvPr/>
        </p:nvSpPr>
        <p:spPr>
          <a:xfrm>
            <a:off x="22814280" y="29535120"/>
            <a:ext cx="8503200" cy="17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s-CO" sz="27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Open Sans"/>
              </a:rPr>
              <a:t>La ubicación importa más que el número de parámetros</a:t>
            </a:r>
            <a:r>
              <a:rPr b="0" lang="es-CO" sz="27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Open Sans"/>
              </a:rPr>
              <a:t>: con el mismo presupuesto (24,576 parámetros), LoRA pasó de 62.5 % en la variante estándar a 77.1 % en la progresiva (6 s).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TextBox 243"/>
          <p:cNvSpPr/>
          <p:nvPr/>
        </p:nvSpPr>
        <p:spPr>
          <a:xfrm>
            <a:off x="22814280" y="31958280"/>
            <a:ext cx="8503200" cy="132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s-CO" sz="27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Open Sans"/>
              </a:rPr>
              <a:t>El descongelamiento parcial</a:t>
            </a:r>
            <a:r>
              <a:rPr b="0" lang="es-CO" sz="27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Open Sans"/>
              </a:rPr>
              <a:t>, con millones de parámetros, sobreajustó desde las primeras épocas y quedó por debajo del baseline con 7.5 s.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Box 250"/>
          <p:cNvSpPr/>
          <p:nvPr/>
        </p:nvSpPr>
        <p:spPr>
          <a:xfrm>
            <a:off x="22814280" y="34381440"/>
            <a:ext cx="8503200" cy="17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s-CO" sz="27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Open Sans"/>
              </a:rPr>
              <a:t>Adaptar el bloque semántico</a:t>
            </a:r>
            <a:r>
              <a:rPr b="0" lang="es-CO" sz="27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Open Sans"/>
              </a:rPr>
              <a:t> (capas 8–9) con el 0.166 % de los parámetros dio el mejor resultado, en línea con el deterioro léxico-semántico del habla en AD.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" name="Imagen 6" descr=""/>
          <p:cNvPicPr/>
          <p:nvPr/>
        </p:nvPicPr>
        <p:blipFill>
          <a:blip r:embed="rId1"/>
          <a:stretch/>
        </p:blipFill>
        <p:spPr>
          <a:xfrm>
            <a:off x="1196640" y="29758680"/>
            <a:ext cx="1849680" cy="1849680"/>
          </a:xfrm>
          <a:prstGeom prst="rect">
            <a:avLst/>
          </a:prstGeom>
          <a:ln w="0">
            <a:noFill/>
          </a:ln>
        </p:spPr>
      </p:pic>
      <p:pic>
        <p:nvPicPr>
          <p:cNvPr id="29" name="Imagen 12" descr=""/>
          <p:cNvPicPr/>
          <p:nvPr/>
        </p:nvPicPr>
        <p:blipFill>
          <a:blip r:embed="rId2"/>
          <a:stretch/>
        </p:blipFill>
        <p:spPr>
          <a:xfrm>
            <a:off x="1594440" y="18395280"/>
            <a:ext cx="1380240" cy="1383120"/>
          </a:xfrm>
          <a:prstGeom prst="rect">
            <a:avLst/>
          </a:prstGeom>
          <a:ln w="0">
            <a:noFill/>
          </a:ln>
        </p:spPr>
      </p:pic>
      <p:pic>
        <p:nvPicPr>
          <p:cNvPr id="30" name="Imagen 14" descr=""/>
          <p:cNvPicPr/>
          <p:nvPr/>
        </p:nvPicPr>
        <p:blipFill>
          <a:blip r:embed="rId3"/>
          <a:stretch/>
        </p:blipFill>
        <p:spPr>
          <a:xfrm>
            <a:off x="1666440" y="8354880"/>
            <a:ext cx="1160640" cy="1236600"/>
          </a:xfrm>
          <a:prstGeom prst="rect">
            <a:avLst/>
          </a:prstGeom>
          <a:ln w="0">
            <a:noFill/>
          </a:ln>
        </p:spPr>
      </p:pic>
      <p:sp>
        <p:nvSpPr>
          <p:cNvPr id="31" name="Rectángulo 90"/>
          <p:cNvSpPr/>
          <p:nvPr/>
        </p:nvSpPr>
        <p:spPr>
          <a:xfrm>
            <a:off x="10080" y="39175200"/>
            <a:ext cx="32378760" cy="426240"/>
          </a:xfrm>
          <a:prstGeom prst="rect">
            <a:avLst/>
          </a:prstGeom>
          <a:solidFill>
            <a:srgbClr val="0083a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s-CO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2" name="TextBox 15"/>
          <p:cNvSpPr/>
          <p:nvPr/>
        </p:nvSpPr>
        <p:spPr>
          <a:xfrm>
            <a:off x="861480" y="5023080"/>
            <a:ext cx="18638640" cy="76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s-CO" sz="4400" spc="-1" strike="noStrike">
                <a:solidFill>
                  <a:schemeClr val="lt1"/>
                </a:solidFill>
                <a:latin typeface="Arial"/>
                <a:ea typeface="DejaVu Sans"/>
              </a:rPr>
              <a:t>PRACTICANTE: Santiago Álvarez Zuluaga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TextBox 15"/>
          <p:cNvSpPr/>
          <p:nvPr/>
        </p:nvSpPr>
        <p:spPr>
          <a:xfrm>
            <a:off x="874080" y="5973120"/>
            <a:ext cx="18459720" cy="76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s-CO" sz="4400" spc="-1" strike="noStrike">
                <a:solidFill>
                  <a:schemeClr val="lt1"/>
                </a:solidFill>
                <a:latin typeface="Arial"/>
                <a:ea typeface="DejaVu Sans"/>
              </a:rPr>
              <a:t>ASESOR: Cristian David Ríos Urrego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Box 15"/>
          <p:cNvSpPr/>
          <p:nvPr/>
        </p:nvSpPr>
        <p:spPr>
          <a:xfrm>
            <a:off x="19931760" y="5004360"/>
            <a:ext cx="11588040" cy="76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s-CO" sz="4400" spc="-1" strike="noStrike">
                <a:solidFill>
                  <a:schemeClr val="lt1"/>
                </a:solidFill>
                <a:latin typeface="Arial"/>
                <a:ea typeface="DejaVu Sans"/>
              </a:rPr>
              <a:t>PROGRAMA: </a:t>
            </a:r>
            <a:r>
              <a:rPr b="1" lang="es-CO" sz="3400" spc="-1" strike="noStrike">
                <a:solidFill>
                  <a:schemeClr val="lt1"/>
                </a:solidFill>
                <a:latin typeface="Arial"/>
                <a:ea typeface="DejaVu Sans"/>
              </a:rPr>
              <a:t>Ingeniería de Telecomunicaciones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Box 13"/>
          <p:cNvSpPr/>
          <p:nvPr/>
        </p:nvSpPr>
        <p:spPr>
          <a:xfrm>
            <a:off x="545400" y="914400"/>
            <a:ext cx="18648720" cy="349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90000"/>
              </a:lnSpc>
            </a:pPr>
            <a:r>
              <a:rPr b="1" lang="es-CO" sz="6200" spc="-1" strike="noStrike">
                <a:solidFill>
                  <a:schemeClr val="lt1"/>
                </a:solidFill>
                <a:latin typeface="Arial"/>
                <a:ea typeface="DejaVu Sans"/>
              </a:rPr>
              <a:t>Ajuste fino de parámetros sobre wav2vec 2.0 para la clasificación de la enfermedad de Alzheimer mediante señales de voz en condiciones de datos limitados</a:t>
            </a:r>
            <a:endParaRPr b="0" lang="en-US" sz="6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Box 15"/>
          <p:cNvSpPr/>
          <p:nvPr/>
        </p:nvSpPr>
        <p:spPr>
          <a:xfrm>
            <a:off x="19931760" y="6024600"/>
            <a:ext cx="1158804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s-CO" sz="3200" spc="-1" strike="noStrike">
                <a:solidFill>
                  <a:schemeClr val="lt1"/>
                </a:solidFill>
                <a:latin typeface="Arial"/>
                <a:ea typeface="DejaVu Sans"/>
              </a:rPr>
              <a:t>Semestre de la práctica: 2026-2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" name="Imagen 19" descr=""/>
          <p:cNvPicPr/>
          <p:nvPr/>
        </p:nvPicPr>
        <p:blipFill>
          <a:blip r:embed="rId4"/>
          <a:stretch/>
        </p:blipFill>
        <p:spPr>
          <a:xfrm>
            <a:off x="19590480" y="429480"/>
            <a:ext cx="11852280" cy="3805200"/>
          </a:xfrm>
          <a:prstGeom prst="rect">
            <a:avLst/>
          </a:prstGeom>
          <a:ln w="0">
            <a:noFill/>
          </a:ln>
        </p:spPr>
      </p:pic>
      <p:sp>
        <p:nvSpPr>
          <p:cNvPr id="38" name="TextBox 15"/>
          <p:cNvSpPr/>
          <p:nvPr/>
        </p:nvSpPr>
        <p:spPr>
          <a:xfrm>
            <a:off x="545400" y="229320"/>
            <a:ext cx="1691208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chemeClr val="lt1"/>
                </a:solidFill>
                <a:latin typeface="Times New Roman"/>
                <a:ea typeface="DejaVu Sans"/>
              </a:rPr>
              <a:t>Departamento de Ingeniería Electrónica y de Telecomunicaciones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Rectángulo redondeado 3"/>
          <p:cNvSpPr/>
          <p:nvPr/>
        </p:nvSpPr>
        <p:spPr>
          <a:xfrm>
            <a:off x="21714480" y="8606160"/>
            <a:ext cx="9498600" cy="16175520"/>
          </a:xfrm>
          <a:prstGeom prst="roundRect">
            <a:avLst>
              <a:gd name="adj" fmla="val 16667"/>
            </a:avLst>
          </a:prstGeom>
          <a:solidFill>
            <a:srgbClr val="0083ac"/>
          </a:solidFill>
          <a:ln w="12600">
            <a:solidFill>
              <a:srgbClr val="4472c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s-CO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0" name="Oval 32"/>
          <p:cNvSpPr/>
          <p:nvPr/>
        </p:nvSpPr>
        <p:spPr>
          <a:xfrm>
            <a:off x="22683960" y="8721000"/>
            <a:ext cx="1849680" cy="1849680"/>
          </a:xfrm>
          <a:prstGeom prst="ellipse">
            <a:avLst/>
          </a:prstGeom>
          <a:solidFill>
            <a:srgbClr val="93d50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pic>
        <p:nvPicPr>
          <p:cNvPr id="41" name="Picture 54" descr="Logo, icon&#10;&#10;Description automatically generated"/>
          <p:cNvPicPr/>
          <p:nvPr/>
        </p:nvPicPr>
        <p:blipFill>
          <a:blip r:embed="rId5"/>
          <a:stretch/>
        </p:blipFill>
        <p:spPr>
          <a:xfrm>
            <a:off x="22722840" y="11384280"/>
            <a:ext cx="898560" cy="1099440"/>
          </a:xfrm>
          <a:prstGeom prst="rect">
            <a:avLst/>
          </a:prstGeom>
          <a:ln w="0">
            <a:noFill/>
          </a:ln>
        </p:spPr>
      </p:pic>
      <p:cxnSp>
        <p:nvCxnSpPr>
          <p:cNvPr id="42" name="Straight Connector 134"/>
          <p:cNvCxnSpPr/>
          <p:nvPr/>
        </p:nvCxnSpPr>
        <p:spPr>
          <a:xfrm>
            <a:off x="22768560" y="14292000"/>
            <a:ext cx="8381520" cy="720"/>
          </a:xfrm>
          <a:prstGeom prst="straightConnector1">
            <a:avLst/>
          </a:prstGeom>
          <a:ln w="12600">
            <a:solidFill>
              <a:schemeClr val="lt1"/>
            </a:solidFill>
            <a:prstDash val="dashDot"/>
            <a:miter/>
          </a:ln>
        </p:spPr>
      </p:cxnSp>
      <p:pic>
        <p:nvPicPr>
          <p:cNvPr id="43" name="Imagen 28" descr=""/>
          <p:cNvPicPr/>
          <p:nvPr/>
        </p:nvPicPr>
        <p:blipFill>
          <a:blip r:embed="rId6"/>
          <a:stretch/>
        </p:blipFill>
        <p:spPr>
          <a:xfrm>
            <a:off x="22425840" y="8900280"/>
            <a:ext cx="2475720" cy="1422720"/>
          </a:xfrm>
          <a:prstGeom prst="rect">
            <a:avLst/>
          </a:prstGeom>
          <a:ln w="0">
            <a:noFill/>
          </a:ln>
        </p:spPr>
      </p:pic>
      <p:cxnSp>
        <p:nvCxnSpPr>
          <p:cNvPr id="44" name="Straight Connector 136"/>
          <p:cNvCxnSpPr/>
          <p:nvPr/>
        </p:nvCxnSpPr>
        <p:spPr>
          <a:xfrm>
            <a:off x="22768560" y="17721000"/>
            <a:ext cx="8381520" cy="720"/>
          </a:xfrm>
          <a:prstGeom prst="straightConnector1">
            <a:avLst/>
          </a:prstGeom>
          <a:ln w="12600">
            <a:solidFill>
              <a:schemeClr val="lt1"/>
            </a:solidFill>
            <a:prstDash val="dashDot"/>
            <a:miter/>
          </a:ln>
        </p:spPr>
      </p:cxnSp>
      <p:cxnSp>
        <p:nvCxnSpPr>
          <p:cNvPr id="45" name="Straight Connector 136"/>
          <p:cNvCxnSpPr/>
          <p:nvPr/>
        </p:nvCxnSpPr>
        <p:spPr>
          <a:xfrm>
            <a:off x="22768560" y="21150000"/>
            <a:ext cx="8381520" cy="720"/>
          </a:xfrm>
          <a:prstGeom prst="straightConnector1">
            <a:avLst/>
          </a:prstGeom>
          <a:ln w="12600">
            <a:solidFill>
              <a:schemeClr val="lt1"/>
            </a:solidFill>
            <a:prstDash val="dashDot"/>
            <a:miter/>
          </a:ln>
        </p:spPr>
      </p:cxnSp>
      <p:pic>
        <p:nvPicPr>
          <p:cNvPr id="46" name="Gráfico 25" descr="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 rot="10800000">
            <a:off x="28083240" y="8667000"/>
            <a:ext cx="2040480" cy="1854720"/>
          </a:xfrm>
          <a:prstGeom prst="rect">
            <a:avLst/>
          </a:prstGeom>
          <a:ln w="0">
            <a:noFill/>
          </a:ln>
        </p:spPr>
      </p:pic>
      <p:sp>
        <p:nvSpPr>
          <p:cNvPr id="47" name="TextBox 34"/>
          <p:cNvSpPr/>
          <p:nvPr/>
        </p:nvSpPr>
        <p:spPr>
          <a:xfrm>
            <a:off x="24902640" y="9231480"/>
            <a:ext cx="599580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6000" spc="-1" strike="noStrike">
                <a:solidFill>
                  <a:schemeClr val="lt1"/>
                </a:solidFill>
                <a:latin typeface="Arial"/>
                <a:ea typeface="DejaVu Sans"/>
              </a:rPr>
              <a:t>Objetivos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Box 64"/>
          <p:cNvSpPr/>
          <p:nvPr/>
        </p:nvSpPr>
        <p:spPr>
          <a:xfrm>
            <a:off x="23682960" y="11064240"/>
            <a:ext cx="7405920" cy="19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s-CO" sz="3000" spc="-1" strike="noStrike">
                <a:solidFill>
                  <a:schemeClr val="lt1"/>
                </a:solidFill>
                <a:latin typeface="Arial"/>
                <a:ea typeface="Open Sans"/>
              </a:rPr>
              <a:t>Establecer una línea base de clasificación de pacientes con EA y sujetos de control con representaciones de wav2vec 2.0 sin ajuste de parámetros.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Box 68"/>
          <p:cNvSpPr/>
          <p:nvPr/>
        </p:nvSpPr>
        <p:spPr>
          <a:xfrm>
            <a:off x="23682960" y="14493240"/>
            <a:ext cx="7405920" cy="19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s-CO" sz="3000" spc="-1" strike="noStrike">
                <a:solidFill>
                  <a:schemeClr val="lt1"/>
                </a:solidFill>
                <a:latin typeface="Arial"/>
                <a:ea typeface="Open Sans"/>
              </a:rPr>
              <a:t>Identificar estrategias de ajuste de parámetros aplicables a la arquitectura de wav2vec 2.0 en escenarios con datos limitados.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Box 72"/>
          <p:cNvSpPr/>
          <p:nvPr/>
        </p:nvSpPr>
        <p:spPr>
          <a:xfrm>
            <a:off x="23682960" y="17922240"/>
            <a:ext cx="7405920" cy="19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s-CO" sz="3000" spc="-1" strike="noStrike">
                <a:solidFill>
                  <a:schemeClr val="lt1"/>
                </a:solidFill>
                <a:latin typeface="Arial"/>
                <a:ea typeface="Open Sans"/>
              </a:rPr>
              <a:t>Implementar diferentes estrategias de ajuste sobre wav2vec 2.0 para adaptarlo a la clasificación entre pacientes con EA y controles.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Box 72"/>
          <p:cNvSpPr/>
          <p:nvPr/>
        </p:nvSpPr>
        <p:spPr>
          <a:xfrm>
            <a:off x="23682960" y="21351240"/>
            <a:ext cx="7405920" cy="23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s-CO" sz="3000" spc="-1" strike="noStrike">
                <a:solidFill>
                  <a:schemeClr val="lt1"/>
                </a:solidFill>
                <a:latin typeface="Arial"/>
                <a:ea typeface="Open Sans"/>
              </a:rPr>
              <a:t>Evaluar y comparar el desempeño, los tiempos de entrenamiento e inferencia y los parámetros entrenables entre el modelo base y las estrategias implementadas.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2" name="Picture 54" descr="Logo, icon&#10;&#10;Description automatically generated"/>
          <p:cNvPicPr/>
          <p:nvPr/>
        </p:nvPicPr>
        <p:blipFill>
          <a:blip r:embed="rId9"/>
          <a:stretch/>
        </p:blipFill>
        <p:spPr>
          <a:xfrm>
            <a:off x="22722840" y="14813280"/>
            <a:ext cx="898560" cy="1099440"/>
          </a:xfrm>
          <a:prstGeom prst="rect">
            <a:avLst/>
          </a:prstGeom>
          <a:ln w="0">
            <a:noFill/>
          </a:ln>
        </p:spPr>
      </p:pic>
      <p:pic>
        <p:nvPicPr>
          <p:cNvPr id="53" name="Picture 54" descr="Logo, icon&#10;&#10;Description automatically generated"/>
          <p:cNvPicPr/>
          <p:nvPr/>
        </p:nvPicPr>
        <p:blipFill>
          <a:blip r:embed="rId10"/>
          <a:stretch/>
        </p:blipFill>
        <p:spPr>
          <a:xfrm>
            <a:off x="22722840" y="18242280"/>
            <a:ext cx="898560" cy="1099440"/>
          </a:xfrm>
          <a:prstGeom prst="rect">
            <a:avLst/>
          </a:prstGeom>
          <a:ln w="0">
            <a:noFill/>
          </a:ln>
        </p:spPr>
      </p:pic>
      <p:pic>
        <p:nvPicPr>
          <p:cNvPr id="54" name="Picture 54" descr="Logo, icon&#10;&#10;Description automatically generated"/>
          <p:cNvPicPr/>
          <p:nvPr/>
        </p:nvPicPr>
        <p:blipFill>
          <a:blip r:embed="rId11"/>
          <a:stretch/>
        </p:blipFill>
        <p:spPr>
          <a:xfrm>
            <a:off x="22722840" y="21671280"/>
            <a:ext cx="898560" cy="1099440"/>
          </a:xfrm>
          <a:prstGeom prst="rect">
            <a:avLst/>
          </a:prstGeom>
          <a:ln w="0">
            <a:noFill/>
          </a:ln>
        </p:spPr>
      </p:pic>
      <p:sp>
        <p:nvSpPr>
          <p:cNvPr id="55" name="TextBox 15"/>
          <p:cNvSpPr/>
          <p:nvPr/>
        </p:nvSpPr>
        <p:spPr>
          <a:xfrm>
            <a:off x="768600" y="37452240"/>
            <a:ext cx="742860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chemeClr val="lt1"/>
                </a:solidFill>
                <a:latin typeface="Arial"/>
                <a:ea typeface="DejaVu Sans"/>
              </a:rPr>
              <a:t>DATOS DE CONTACTO DEL AUTOR: 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6" name="Imagen 59" descr=""/>
          <p:cNvPicPr/>
          <p:nvPr/>
        </p:nvPicPr>
        <p:blipFill>
          <a:blip r:embed="rId12">
            <a:lum bright="70000" contrast="-70000"/>
          </a:blip>
          <a:stretch/>
        </p:blipFill>
        <p:spPr>
          <a:xfrm>
            <a:off x="10672560" y="38266200"/>
            <a:ext cx="700200" cy="700200"/>
          </a:xfrm>
          <a:prstGeom prst="rect">
            <a:avLst/>
          </a:prstGeom>
          <a:ln w="0">
            <a:noFill/>
          </a:ln>
        </p:spPr>
      </p:pic>
      <p:sp>
        <p:nvSpPr>
          <p:cNvPr id="57" name="CuadroTexto 61"/>
          <p:cNvSpPr/>
          <p:nvPr/>
        </p:nvSpPr>
        <p:spPr>
          <a:xfrm>
            <a:off x="11405160" y="38278800"/>
            <a:ext cx="571788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s-CO" sz="3200" spc="-1" strike="noStrike">
                <a:solidFill>
                  <a:schemeClr val="lt1"/>
                </a:solidFill>
                <a:latin typeface="Calibri"/>
                <a:ea typeface="DejaVu Sans"/>
              </a:rPr>
              <a:t>Santiago.alvarez17@udea.edu.co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8" name="Imagen 63" descr=""/>
          <p:cNvPicPr/>
          <p:nvPr/>
        </p:nvPicPr>
        <p:blipFill>
          <a:blip r:embed="rId13">
            <a:lum bright="70000" contrast="-70000"/>
          </a:blip>
          <a:stretch/>
        </p:blipFill>
        <p:spPr>
          <a:xfrm>
            <a:off x="4936320" y="38296440"/>
            <a:ext cx="1211760" cy="635760"/>
          </a:xfrm>
          <a:prstGeom prst="rect">
            <a:avLst/>
          </a:prstGeom>
          <a:ln w="0">
            <a:noFill/>
          </a:ln>
        </p:spPr>
      </p:pic>
      <p:sp>
        <p:nvSpPr>
          <p:cNvPr id="59" name="CuadroTexto 67"/>
          <p:cNvSpPr/>
          <p:nvPr/>
        </p:nvSpPr>
        <p:spPr>
          <a:xfrm>
            <a:off x="6029640" y="38256480"/>
            <a:ext cx="339300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s-CO" sz="3200" spc="-1" strike="noStrike">
                <a:solidFill>
                  <a:schemeClr val="lt1"/>
                </a:solidFill>
                <a:latin typeface="Calibri"/>
                <a:ea typeface="DejaVu Sans"/>
              </a:rPr>
              <a:t>+57 3137538637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CuadroTexto 69"/>
          <p:cNvSpPr/>
          <p:nvPr/>
        </p:nvSpPr>
        <p:spPr>
          <a:xfrm>
            <a:off x="20671560" y="38258280"/>
            <a:ext cx="809136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s-CO" sz="3200" spc="-1" strike="noStrike">
                <a:solidFill>
                  <a:schemeClr val="lt1"/>
                </a:solidFill>
                <a:latin typeface="Calibri"/>
                <a:ea typeface="DejaVu Sans"/>
              </a:rPr>
              <a:t>linkedin.com/in/usuario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1" name="Picture 2" descr="Linkedin icono redondo negro"/>
          <p:cNvPicPr/>
          <p:nvPr/>
        </p:nvPicPr>
        <p:blipFill>
          <a:blip r:embed="rId14">
            <a:lum bright="70000" contrast="-70000"/>
          </a:blip>
          <a:stretch/>
        </p:blipFill>
        <p:spPr>
          <a:xfrm>
            <a:off x="19751040" y="38181600"/>
            <a:ext cx="797760" cy="797760"/>
          </a:xfrm>
          <a:prstGeom prst="rect">
            <a:avLst/>
          </a:prstGeom>
          <a:ln w="0">
            <a:noFill/>
          </a:ln>
        </p:spPr>
      </p:pic>
      <p:pic>
        <p:nvPicPr>
          <p:cNvPr id="62" name="Picture 54" descr="Logo, icon&#10;&#10;Description automatically generated"/>
          <p:cNvPicPr/>
          <p:nvPr/>
        </p:nvPicPr>
        <p:blipFill>
          <a:blip r:embed="rId15"/>
          <a:stretch/>
        </p:blipFill>
        <p:spPr>
          <a:xfrm>
            <a:off x="21808440" y="27386280"/>
            <a:ext cx="898560" cy="1099440"/>
          </a:xfrm>
          <a:prstGeom prst="rect">
            <a:avLst/>
          </a:prstGeom>
          <a:ln w="0">
            <a:noFill/>
          </a:ln>
        </p:spPr>
      </p:pic>
      <p:pic>
        <p:nvPicPr>
          <p:cNvPr id="63" name="Picture 54" descr="Logo, icon&#10;&#10;Description automatically generated"/>
          <p:cNvPicPr/>
          <p:nvPr/>
        </p:nvPicPr>
        <p:blipFill>
          <a:blip r:embed="rId16"/>
          <a:stretch/>
        </p:blipFill>
        <p:spPr>
          <a:xfrm>
            <a:off x="21808440" y="29809440"/>
            <a:ext cx="898560" cy="1099440"/>
          </a:xfrm>
          <a:prstGeom prst="rect">
            <a:avLst/>
          </a:prstGeom>
          <a:ln w="0">
            <a:noFill/>
          </a:ln>
        </p:spPr>
      </p:pic>
      <p:pic>
        <p:nvPicPr>
          <p:cNvPr id="64" name="Picture 54" descr="Logo, icon&#10;&#10;Description automatically generated"/>
          <p:cNvPicPr/>
          <p:nvPr/>
        </p:nvPicPr>
        <p:blipFill>
          <a:blip r:embed="rId17"/>
          <a:stretch/>
        </p:blipFill>
        <p:spPr>
          <a:xfrm>
            <a:off x="21808440" y="32232600"/>
            <a:ext cx="898560" cy="1099440"/>
          </a:xfrm>
          <a:prstGeom prst="rect">
            <a:avLst/>
          </a:prstGeom>
          <a:ln w="0">
            <a:noFill/>
          </a:ln>
        </p:spPr>
      </p:pic>
      <p:pic>
        <p:nvPicPr>
          <p:cNvPr id="65" name="Picture 54" descr="Logo, icon&#10;&#10;Description automatically generated"/>
          <p:cNvPicPr/>
          <p:nvPr/>
        </p:nvPicPr>
        <p:blipFill>
          <a:blip r:embed="rId18"/>
          <a:stretch/>
        </p:blipFill>
        <p:spPr>
          <a:xfrm>
            <a:off x="21808440" y="34655760"/>
            <a:ext cx="898560" cy="109944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66" name="Grafica exactitud"/>
          <p:cNvGraphicFramePr/>
          <p:nvPr/>
        </p:nvGraphicFramePr>
        <p:xfrm>
          <a:off x="8778240" y="29871720"/>
          <a:ext cx="11246400" cy="6811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9"/>
          </a:graphicData>
        </a:graphic>
      </p:graphicFrame>
      <p:pic>
        <p:nvPicPr>
          <p:cNvPr id="67" name="" descr=""/>
          <p:cNvPicPr/>
          <p:nvPr/>
        </p:nvPicPr>
        <p:blipFill>
          <a:blip r:embed="rId20"/>
          <a:stretch/>
        </p:blipFill>
        <p:spPr>
          <a:xfrm>
            <a:off x="1371600" y="18039600"/>
            <a:ext cx="19857240" cy="8414640"/>
          </a:xfrm>
          <a:prstGeom prst="rect">
            <a:avLst/>
          </a:prstGeom>
          <a:ln w="0">
            <a:noFill/>
          </a:ln>
        </p:spPr>
      </p:pic>
      <p:pic>
        <p:nvPicPr>
          <p:cNvPr id="68" name="" descr=""/>
          <p:cNvPicPr/>
          <p:nvPr/>
        </p:nvPicPr>
        <p:blipFill>
          <a:blip r:embed="rId21"/>
          <a:stretch/>
        </p:blipFill>
        <p:spPr>
          <a:xfrm>
            <a:off x="4000320" y="24951600"/>
            <a:ext cx="14287320" cy="4542840"/>
          </a:xfrm>
          <a:prstGeom prst="rect">
            <a:avLst/>
          </a:prstGeom>
          <a:ln w="0">
            <a:noFill/>
          </a:ln>
        </p:spPr>
      </p:pic>
      <p:pic>
        <p:nvPicPr>
          <p:cNvPr id="69" name="" descr=""/>
          <p:cNvPicPr/>
          <p:nvPr/>
        </p:nvPicPr>
        <p:blipFill>
          <a:blip r:embed="rId22"/>
          <a:stretch/>
        </p:blipFill>
        <p:spPr>
          <a:xfrm>
            <a:off x="11201400" y="12344400"/>
            <a:ext cx="8915040" cy="2503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222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2022-09-13T19:42:38Z</dcterms:created>
  <dc:creator>David Garcia Cano</dc:creator>
  <dc:description/>
  <dc:language>en-US</dc:language>
  <cp:lastModifiedBy/>
  <dcterms:modified xsi:type="dcterms:W3CDTF">2026-10-09T20:00:03Z</dcterms:modified>
  <cp:revision>5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8EC498A6-9D3C-42A5-B822-D2C5CEB92701</vt:lpwstr>
  </property>
  <property fmtid="{D5CDD505-2E9C-101B-9397-08002B2CF9AE}" pid="3" name="ArticulatePath">
    <vt:lpwstr>Presentation1</vt:lpwstr>
  </property>
  <property fmtid="{D5CDD505-2E9C-101B-9397-08002B2CF9AE}" pid="4" name="ContentTypeId">
    <vt:lpwstr>0x010100E0EB4C5741BC274EBAAB5B79967DCE29</vt:lpwstr>
  </property>
  <property fmtid="{D5CDD505-2E9C-101B-9397-08002B2CF9AE}" pid="5" name="MediaServiceImageTags">
    <vt:lpwstr/>
  </property>
  <property fmtid="{D5CDD505-2E9C-101B-9397-08002B2CF9AE}" pid="6" name="PresentationFormat">
    <vt:lpwstr>Custom</vt:lpwstr>
  </property>
  <property fmtid="{D5CDD505-2E9C-101B-9397-08002B2CF9AE}" pid="7" name="Slides">
    <vt:r8>1</vt:r8>
  </property>
</Properties>
</file>