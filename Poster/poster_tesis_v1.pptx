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svg" ContentType="image/svg"/>
  <Override PartName="/ppt/media/image9.png" ContentType="image/png"/>
  <Override PartName="/ppt/media/image13.png" ContentType="image/png"/>
  <Override PartName="/ppt/media/image4.png" ContentType="image/png"/>
  <Override PartName="/ppt/media/image1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32399288" cy="39600188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430000" y="6480720"/>
            <a:ext cx="27538200" cy="137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1619640" y="9266400"/>
            <a:ext cx="29158920" cy="2296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7CDF47-B576-4B4F-8883-67F45FF2AA5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430000" y="6480720"/>
            <a:ext cx="27538200" cy="137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10732320" y="36703440"/>
            <a:ext cx="10933560" cy="210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22881960" y="36703440"/>
            <a:ext cx="7288920" cy="210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425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E39ECBE-85F3-49B3-A95A-845810EEB138}" type="slidenum">
              <a:rPr b="0" lang="en-US" sz="425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4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2227320" y="36703440"/>
            <a:ext cx="7288920" cy="210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1619640" y="9266400"/>
            <a:ext cx="29158920" cy="2296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5.png"/><Relationship Id="rId10" Type="http://schemas.openxmlformats.org/officeDocument/2006/relationships/image" Target="../media/image5.png"/><Relationship Id="rId11" Type="http://schemas.openxmlformats.org/officeDocument/2006/relationships/image" Target="../media/image5.png"/><Relationship Id="rId12" Type="http://schemas.openxmlformats.org/officeDocument/2006/relationships/image" Target="../media/image9.png"/><Relationship Id="rId13" Type="http://schemas.openxmlformats.org/officeDocument/2006/relationships/image" Target="../media/image10.png"/><Relationship Id="rId14" Type="http://schemas.openxmlformats.org/officeDocument/2006/relationships/image" Target="../media/image11.png"/><Relationship Id="rId15" Type="http://schemas.openxmlformats.org/officeDocument/2006/relationships/image" Target="../media/image5.png"/><Relationship Id="rId16" Type="http://schemas.openxmlformats.org/officeDocument/2006/relationships/image" Target="../media/image5.png"/><Relationship Id="rId17" Type="http://schemas.openxmlformats.org/officeDocument/2006/relationships/image" Target="../media/image5.png"/><Relationship Id="rId18" Type="http://schemas.openxmlformats.org/officeDocument/2006/relationships/image" Target="../media/image5.png"/><Relationship Id="rId19" Type="http://schemas.openxmlformats.org/officeDocument/2006/relationships/image" Target="../media/image12.png"/><Relationship Id="rId20" Type="http://schemas.openxmlformats.org/officeDocument/2006/relationships/image" Target="../media/image13.png"/><Relationship Id="rId21" Type="http://schemas.openxmlformats.org/officeDocument/2006/relationships/image" Target="../media/image14.png"/><Relationship Id="rId2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4"/>
          <p:cNvSpPr/>
          <p:nvPr/>
        </p:nvSpPr>
        <p:spPr>
          <a:xfrm>
            <a:off x="13320" y="36938880"/>
            <a:ext cx="32378400" cy="2243880"/>
          </a:xfrm>
          <a:prstGeom prst="rect">
            <a:avLst/>
          </a:prstGeom>
          <a:solidFill>
            <a:srgbClr val="00729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CO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" name="Rectángulo 1"/>
          <p:cNvSpPr/>
          <p:nvPr/>
        </p:nvSpPr>
        <p:spPr>
          <a:xfrm>
            <a:off x="-9720" y="-122040"/>
            <a:ext cx="32493960" cy="4886280"/>
          </a:xfrm>
          <a:prstGeom prst="rect">
            <a:avLst/>
          </a:prstGeom>
          <a:solidFill>
            <a:srgbClr val="007297"/>
          </a:solidFill>
          <a:ln w="12600">
            <a:solidFill>
              <a:schemeClr val="accent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CO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" name="Rectángulo 2"/>
          <p:cNvSpPr/>
          <p:nvPr/>
        </p:nvSpPr>
        <p:spPr>
          <a:xfrm>
            <a:off x="0" y="4702680"/>
            <a:ext cx="32484240" cy="2322720"/>
          </a:xfrm>
          <a:prstGeom prst="rect">
            <a:avLst/>
          </a:prstGeom>
          <a:solidFill>
            <a:srgbClr val="0083ac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CO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" name="TextBox 209"/>
          <p:cNvSpPr/>
          <p:nvPr/>
        </p:nvSpPr>
        <p:spPr>
          <a:xfrm>
            <a:off x="3492360" y="8402760"/>
            <a:ext cx="5995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Introducción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Oval 211"/>
          <p:cNvSpPr/>
          <p:nvPr/>
        </p:nvSpPr>
        <p:spPr>
          <a:xfrm>
            <a:off x="1234440" y="8001000"/>
            <a:ext cx="1849320" cy="1849320"/>
          </a:xfrm>
          <a:prstGeom prst="ellipse">
            <a:avLst/>
          </a:prstGeom>
          <a:solidFill>
            <a:srgbClr val="93d500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cxnSp>
        <p:nvCxnSpPr>
          <p:cNvPr id="12" name="Straight Connector 29"/>
          <p:cNvCxnSpPr/>
          <p:nvPr/>
        </p:nvCxnSpPr>
        <p:spPr>
          <a:xfrm>
            <a:off x="1147680" y="7580160"/>
            <a:ext cx="22811760" cy="15840"/>
          </a:xfrm>
          <a:prstGeom prst="straightConnector1">
            <a:avLst/>
          </a:prstGeom>
          <a:ln w="6480">
            <a:solidFill>
              <a:srgbClr val="2ab9cb"/>
            </a:solidFill>
            <a:miter/>
          </a:ln>
        </p:spPr>
      </p:cxnSp>
      <p:sp>
        <p:nvSpPr>
          <p:cNvPr id="13" name="TextBox 35"/>
          <p:cNvSpPr/>
          <p:nvPr/>
        </p:nvSpPr>
        <p:spPr>
          <a:xfrm>
            <a:off x="1828800" y="10012680"/>
            <a:ext cx="7315200" cy="69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  <a:spcAft>
                <a:spcPts val="1001"/>
              </a:spcAft>
            </a:pP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0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4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g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4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3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0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z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h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(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)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f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f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g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j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y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j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h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h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ó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y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w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0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f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h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j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í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q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ñ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j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j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ú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g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j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u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f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i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á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(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F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)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r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w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v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2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0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n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p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c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Box 39"/>
          <p:cNvSpPr/>
          <p:nvPr/>
        </p:nvSpPr>
        <p:spPr>
          <a:xfrm>
            <a:off x="10077840" y="8910360"/>
            <a:ext cx="12710160" cy="44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</a:pP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Se usó la base de datos del reto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ADReSS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(Interspeech 2020),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tomada del Pitt Corpus de DementiaBank, en la que los participantes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describen la lámina Cookie Theft (BDAE). Está balanceada por edad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y género, lo que evita que el clasificador aprenda variables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demográficas en lugar de la enfermedad. Contiene 1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56 sujetos (78 </a:t>
            </a:r>
            <a:r>
              <a:rPr b="1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AD y 78 CTR)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 divididos en 108 de entrenamiento y 48 de prueba.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Del entrenamiento se separó una validación fija (87/21) para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optimizar hiperparámetros, y la prueba se reservó para la evaluación </a:t>
            </a:r>
            <a:r>
              <a:rPr b="0" lang="es-CO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final.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Box 151"/>
          <p:cNvSpPr/>
          <p:nvPr/>
        </p:nvSpPr>
        <p:spPr>
          <a:xfrm>
            <a:off x="3376440" y="18986040"/>
            <a:ext cx="5995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M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e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t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o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d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o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l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o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g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í</a:t>
            </a: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Oval 154"/>
          <p:cNvSpPr/>
          <p:nvPr/>
        </p:nvSpPr>
        <p:spPr>
          <a:xfrm>
            <a:off x="1234440" y="18522000"/>
            <a:ext cx="1849320" cy="1849320"/>
          </a:xfrm>
          <a:prstGeom prst="ellipse">
            <a:avLst/>
          </a:prstGeom>
          <a:solidFill>
            <a:srgbClr val="93d500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cxnSp>
        <p:nvCxnSpPr>
          <p:cNvPr id="17" name="Straight Connector 158"/>
          <p:cNvCxnSpPr/>
          <p:nvPr/>
        </p:nvCxnSpPr>
        <p:spPr>
          <a:xfrm>
            <a:off x="1188720" y="17933400"/>
            <a:ext cx="22052880" cy="1080"/>
          </a:xfrm>
          <a:prstGeom prst="straightConnector1">
            <a:avLst/>
          </a:prstGeom>
          <a:ln w="6480">
            <a:solidFill>
              <a:srgbClr val="2ab9cb"/>
            </a:solidFill>
            <a:miter/>
          </a:ln>
        </p:spPr>
      </p:cxnSp>
      <p:sp>
        <p:nvSpPr>
          <p:cNvPr id="18" name="TextBox 165"/>
          <p:cNvSpPr/>
          <p:nvPr/>
        </p:nvSpPr>
        <p:spPr>
          <a:xfrm>
            <a:off x="3382200" y="26528400"/>
            <a:ext cx="5995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DejaVu Sans"/>
              </a:rPr>
              <a:t>Resultados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Oval 169"/>
          <p:cNvSpPr/>
          <p:nvPr/>
        </p:nvSpPr>
        <p:spPr>
          <a:xfrm>
            <a:off x="1234440" y="26180280"/>
            <a:ext cx="1849320" cy="1849320"/>
          </a:xfrm>
          <a:prstGeom prst="ellipse">
            <a:avLst/>
          </a:prstGeom>
          <a:solidFill>
            <a:srgbClr val="93d500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" name="Rectangle 201"/>
          <p:cNvSpPr/>
          <p:nvPr/>
        </p:nvSpPr>
        <p:spPr>
          <a:xfrm>
            <a:off x="23567400" y="26140320"/>
            <a:ext cx="7281000" cy="1107720"/>
          </a:xfrm>
          <a:prstGeom prst="rect">
            <a:avLst/>
          </a:prstGeom>
          <a:solidFill>
            <a:srgbClr val="e6e6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1" name="TextBox 205"/>
          <p:cNvSpPr/>
          <p:nvPr/>
        </p:nvSpPr>
        <p:spPr>
          <a:xfrm>
            <a:off x="23799600" y="26232840"/>
            <a:ext cx="58960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007297"/>
                </a:solidFill>
                <a:latin typeface="Arial"/>
                <a:ea typeface="Open Sans"/>
              </a:rPr>
              <a:t>Conclusiones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Box 219"/>
          <p:cNvSpPr/>
          <p:nvPr/>
        </p:nvSpPr>
        <p:spPr>
          <a:xfrm>
            <a:off x="24267600" y="27471960"/>
            <a:ext cx="7085520" cy="17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Bottleneck y LoRA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 con estrategias progresiva e inteligente, superaron a la línea base con 6 s y 7.5 s: PEFT es viable para adaptar wav2vec 2.0 con pocos datos.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Box 234"/>
          <p:cNvSpPr/>
          <p:nvPr/>
        </p:nvSpPr>
        <p:spPr>
          <a:xfrm>
            <a:off x="24267600" y="29535120"/>
            <a:ext cx="7085520" cy="22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La ubicación importa más que el número de parámetros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: con el mismo presupuesto (24,576 parámetros), LoRA pasó de 62.5 % en la variante estándar a 77.1 % en la progresiva (6 s).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Box 243"/>
          <p:cNvSpPr/>
          <p:nvPr/>
        </p:nvSpPr>
        <p:spPr>
          <a:xfrm>
            <a:off x="24294600" y="32030280"/>
            <a:ext cx="5942520" cy="17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El descongelamiento parcial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 con millones de parámetros, sobreajustó desde las primeras épocas y quedó por debajo del baseline con 7.5 s.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Box 250"/>
          <p:cNvSpPr/>
          <p:nvPr/>
        </p:nvSpPr>
        <p:spPr>
          <a:xfrm>
            <a:off x="24199200" y="34021440"/>
            <a:ext cx="5713920" cy="22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Adaptar el bloque semántico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(capas 8–9) con el 0.166 % de los parámetros dio el mejor resultado, en línea con el deterioro léxico-semántico del habla en AD.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" name="Imagen 6" descr=""/>
          <p:cNvPicPr/>
          <p:nvPr/>
        </p:nvPicPr>
        <p:blipFill>
          <a:blip r:embed="rId1"/>
          <a:stretch/>
        </p:blipFill>
        <p:spPr>
          <a:xfrm>
            <a:off x="1196640" y="26158680"/>
            <a:ext cx="1849320" cy="1849320"/>
          </a:xfrm>
          <a:prstGeom prst="rect">
            <a:avLst/>
          </a:prstGeom>
          <a:ln w="0">
            <a:noFill/>
          </a:ln>
        </p:spPr>
      </p:pic>
      <p:pic>
        <p:nvPicPr>
          <p:cNvPr id="27" name="Imagen 12" descr=""/>
          <p:cNvPicPr/>
          <p:nvPr/>
        </p:nvPicPr>
        <p:blipFill>
          <a:blip r:embed="rId2"/>
          <a:stretch/>
        </p:blipFill>
        <p:spPr>
          <a:xfrm>
            <a:off x="1594440" y="18755280"/>
            <a:ext cx="1379880" cy="1382760"/>
          </a:xfrm>
          <a:prstGeom prst="rect">
            <a:avLst/>
          </a:prstGeom>
          <a:ln w="0">
            <a:noFill/>
          </a:ln>
        </p:spPr>
      </p:pic>
      <p:pic>
        <p:nvPicPr>
          <p:cNvPr id="28" name="Imagen 14" descr=""/>
          <p:cNvPicPr/>
          <p:nvPr/>
        </p:nvPicPr>
        <p:blipFill>
          <a:blip r:embed="rId3"/>
          <a:stretch/>
        </p:blipFill>
        <p:spPr>
          <a:xfrm>
            <a:off x="1666440" y="8354880"/>
            <a:ext cx="1160280" cy="1236240"/>
          </a:xfrm>
          <a:prstGeom prst="rect">
            <a:avLst/>
          </a:prstGeom>
          <a:ln w="0">
            <a:noFill/>
          </a:ln>
        </p:spPr>
      </p:pic>
      <p:sp>
        <p:nvSpPr>
          <p:cNvPr id="29" name="Rectángulo 90"/>
          <p:cNvSpPr/>
          <p:nvPr/>
        </p:nvSpPr>
        <p:spPr>
          <a:xfrm>
            <a:off x="10080" y="39175200"/>
            <a:ext cx="32378400" cy="425880"/>
          </a:xfrm>
          <a:prstGeom prst="rect">
            <a:avLst/>
          </a:prstGeom>
          <a:solidFill>
            <a:srgbClr val="0083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CO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" name="TextBox 15"/>
          <p:cNvSpPr/>
          <p:nvPr/>
        </p:nvSpPr>
        <p:spPr>
          <a:xfrm>
            <a:off x="861480" y="5023080"/>
            <a:ext cx="186382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4400" spc="-1" strike="noStrike">
                <a:solidFill>
                  <a:schemeClr val="lt1"/>
                </a:solidFill>
                <a:latin typeface="Arial"/>
                <a:ea typeface="DejaVu Sans"/>
              </a:rPr>
              <a:t>PRACTICANTE: Santiago Álvarez Zuluaga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Box 15"/>
          <p:cNvSpPr/>
          <p:nvPr/>
        </p:nvSpPr>
        <p:spPr>
          <a:xfrm>
            <a:off x="874080" y="5973120"/>
            <a:ext cx="184593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4400" spc="-1" strike="noStrike">
                <a:solidFill>
                  <a:schemeClr val="lt1"/>
                </a:solidFill>
                <a:latin typeface="Arial"/>
                <a:ea typeface="DejaVu Sans"/>
              </a:rPr>
              <a:t>ASESOR: Cristian David Ríos Urrego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Box 15"/>
          <p:cNvSpPr/>
          <p:nvPr/>
        </p:nvSpPr>
        <p:spPr>
          <a:xfrm>
            <a:off x="19931760" y="5004360"/>
            <a:ext cx="115876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4400" spc="-1" strike="noStrike">
                <a:solidFill>
                  <a:schemeClr val="lt1"/>
                </a:solidFill>
                <a:latin typeface="Arial"/>
                <a:ea typeface="DejaVu Sans"/>
              </a:rPr>
              <a:t>PROGRAMA: </a:t>
            </a:r>
            <a:r>
              <a:rPr b="1" lang="es-CO" sz="3400" spc="-1" strike="noStrike">
                <a:solidFill>
                  <a:schemeClr val="lt1"/>
                </a:solidFill>
                <a:latin typeface="Arial"/>
                <a:ea typeface="DejaVu Sans"/>
              </a:rPr>
              <a:t>Ingeniería de Telecomunicaciones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Box 13"/>
          <p:cNvSpPr/>
          <p:nvPr/>
        </p:nvSpPr>
        <p:spPr>
          <a:xfrm>
            <a:off x="545400" y="914400"/>
            <a:ext cx="18648360" cy="34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90000"/>
              </a:lnSpc>
            </a:pPr>
            <a:r>
              <a:rPr b="1" lang="es-CO" sz="6200" spc="-1" strike="noStrike">
                <a:solidFill>
                  <a:schemeClr val="lt1"/>
                </a:solidFill>
                <a:latin typeface="Arial"/>
                <a:ea typeface="DejaVu Sans"/>
              </a:rPr>
              <a:t>Ajuste fino de parámetros sobre wav2vec 2.0 para la clasificación de la enfermedad de Alzheimer mediante señales de voz en condiciones de datos limitados</a:t>
            </a:r>
            <a:endParaRPr b="0" lang="en-US" sz="6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Box 15"/>
          <p:cNvSpPr/>
          <p:nvPr/>
        </p:nvSpPr>
        <p:spPr>
          <a:xfrm>
            <a:off x="19931760" y="6024600"/>
            <a:ext cx="1158768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s-CO" sz="3200" spc="-1" strike="noStrike">
                <a:solidFill>
                  <a:schemeClr val="lt1"/>
                </a:solidFill>
                <a:latin typeface="Arial"/>
                <a:ea typeface="DejaVu Sans"/>
              </a:rPr>
              <a:t>Semestre de la práctica: 2026-2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" name="Imagen 19" descr=""/>
          <p:cNvPicPr/>
          <p:nvPr/>
        </p:nvPicPr>
        <p:blipFill>
          <a:blip r:embed="rId4"/>
          <a:stretch/>
        </p:blipFill>
        <p:spPr>
          <a:xfrm>
            <a:off x="19590480" y="429480"/>
            <a:ext cx="11851920" cy="3804840"/>
          </a:xfrm>
          <a:prstGeom prst="rect">
            <a:avLst/>
          </a:prstGeom>
          <a:ln w="0">
            <a:noFill/>
          </a:ln>
        </p:spPr>
      </p:pic>
      <p:sp>
        <p:nvSpPr>
          <p:cNvPr id="36" name="TextBox 15"/>
          <p:cNvSpPr/>
          <p:nvPr/>
        </p:nvSpPr>
        <p:spPr>
          <a:xfrm>
            <a:off x="545400" y="229320"/>
            <a:ext cx="1691172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chemeClr val="lt1"/>
                </a:solidFill>
                <a:latin typeface="Times New Roman"/>
                <a:ea typeface="DejaVu Sans"/>
              </a:rPr>
              <a:t>Departamento de Ingeniería Electrónica y de Telecomunicaciones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Rectángulo redondeado 3"/>
          <p:cNvSpPr/>
          <p:nvPr/>
        </p:nvSpPr>
        <p:spPr>
          <a:xfrm>
            <a:off x="23677200" y="8606160"/>
            <a:ext cx="7543440" cy="16175160"/>
          </a:xfrm>
          <a:prstGeom prst="roundRect">
            <a:avLst>
              <a:gd name="adj" fmla="val 16667"/>
            </a:avLst>
          </a:prstGeom>
          <a:solidFill>
            <a:srgbClr val="0083ac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CO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" name="Oval 32"/>
          <p:cNvSpPr/>
          <p:nvPr/>
        </p:nvSpPr>
        <p:spPr>
          <a:xfrm>
            <a:off x="24483960" y="8721000"/>
            <a:ext cx="1849320" cy="1849320"/>
          </a:xfrm>
          <a:prstGeom prst="ellipse">
            <a:avLst/>
          </a:prstGeom>
          <a:solidFill>
            <a:srgbClr val="93d500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pic>
        <p:nvPicPr>
          <p:cNvPr id="39" name="Picture 54" descr="Logo, icon&#10;&#10;Description automatically generated"/>
          <p:cNvPicPr/>
          <p:nvPr/>
        </p:nvPicPr>
        <p:blipFill>
          <a:blip r:embed="rId5"/>
          <a:stretch/>
        </p:blipFill>
        <p:spPr>
          <a:xfrm>
            <a:off x="23802840" y="11384280"/>
            <a:ext cx="898200" cy="1099080"/>
          </a:xfrm>
          <a:prstGeom prst="rect">
            <a:avLst/>
          </a:prstGeom>
          <a:ln w="0">
            <a:noFill/>
          </a:ln>
        </p:spPr>
      </p:pic>
      <p:cxnSp>
        <p:nvCxnSpPr>
          <p:cNvPr id="40" name="Straight Connector 134"/>
          <p:cNvCxnSpPr/>
          <p:nvPr/>
        </p:nvCxnSpPr>
        <p:spPr>
          <a:xfrm>
            <a:off x="22768560" y="14292000"/>
            <a:ext cx="8381880" cy="1080"/>
          </a:xfrm>
          <a:prstGeom prst="straightConnector1">
            <a:avLst/>
          </a:prstGeom>
          <a:ln w="12600">
            <a:solidFill>
              <a:schemeClr val="lt1"/>
            </a:solidFill>
            <a:prstDash val="dashDot"/>
            <a:miter/>
          </a:ln>
        </p:spPr>
      </p:cxnSp>
      <p:pic>
        <p:nvPicPr>
          <p:cNvPr id="41" name="Imagen 28" descr=""/>
          <p:cNvPicPr/>
          <p:nvPr/>
        </p:nvPicPr>
        <p:blipFill>
          <a:blip r:embed="rId6"/>
          <a:stretch/>
        </p:blipFill>
        <p:spPr>
          <a:xfrm>
            <a:off x="24225840" y="8900280"/>
            <a:ext cx="2475360" cy="1422360"/>
          </a:xfrm>
          <a:prstGeom prst="rect">
            <a:avLst/>
          </a:prstGeom>
          <a:ln w="0">
            <a:noFill/>
          </a:ln>
        </p:spPr>
      </p:pic>
      <p:cxnSp>
        <p:nvCxnSpPr>
          <p:cNvPr id="42" name="Straight Connector 136"/>
          <p:cNvCxnSpPr/>
          <p:nvPr/>
        </p:nvCxnSpPr>
        <p:spPr>
          <a:xfrm>
            <a:off x="22768560" y="17721000"/>
            <a:ext cx="8381880" cy="1080"/>
          </a:xfrm>
          <a:prstGeom prst="straightConnector1">
            <a:avLst/>
          </a:prstGeom>
          <a:ln w="12600">
            <a:solidFill>
              <a:schemeClr val="lt1"/>
            </a:solidFill>
            <a:prstDash val="dashDot"/>
            <a:miter/>
          </a:ln>
        </p:spPr>
      </p:cxnSp>
      <p:cxnSp>
        <p:nvCxnSpPr>
          <p:cNvPr id="43" name="Straight Connector 136"/>
          <p:cNvCxnSpPr/>
          <p:nvPr/>
        </p:nvCxnSpPr>
        <p:spPr>
          <a:xfrm>
            <a:off x="22768560" y="21150000"/>
            <a:ext cx="8381880" cy="1080"/>
          </a:xfrm>
          <a:prstGeom prst="straightConnector1">
            <a:avLst/>
          </a:prstGeom>
          <a:ln w="12600">
            <a:solidFill>
              <a:schemeClr val="lt1"/>
            </a:solidFill>
            <a:prstDash val="dashDot"/>
            <a:miter/>
          </a:ln>
        </p:spPr>
      </p:cxnSp>
      <p:pic>
        <p:nvPicPr>
          <p:cNvPr id="44" name="Gráfico 25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 rot="10800000">
            <a:off x="28443600" y="8667360"/>
            <a:ext cx="2040120" cy="1854360"/>
          </a:xfrm>
          <a:prstGeom prst="rect">
            <a:avLst/>
          </a:prstGeom>
          <a:ln w="0">
            <a:noFill/>
          </a:ln>
        </p:spPr>
      </p:pic>
      <p:sp>
        <p:nvSpPr>
          <p:cNvPr id="45" name="TextBox 34"/>
          <p:cNvSpPr/>
          <p:nvPr/>
        </p:nvSpPr>
        <p:spPr>
          <a:xfrm>
            <a:off x="26342640" y="9231480"/>
            <a:ext cx="5995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0" spc="-1" strike="noStrike">
                <a:solidFill>
                  <a:schemeClr val="lt1"/>
                </a:solidFill>
                <a:latin typeface="Arial"/>
                <a:ea typeface="DejaVu Sans"/>
              </a:rPr>
              <a:t>Objetivos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64"/>
          <p:cNvSpPr/>
          <p:nvPr/>
        </p:nvSpPr>
        <p:spPr>
          <a:xfrm>
            <a:off x="25122600" y="11064240"/>
            <a:ext cx="5713920" cy="25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200" spc="-1" strike="noStrike">
                <a:solidFill>
                  <a:schemeClr val="lt1"/>
                </a:solidFill>
                <a:latin typeface="Arial"/>
                <a:ea typeface="Open Sans"/>
              </a:rPr>
              <a:t>Establecer un baseline de clasificación de pacientes con AD y sujetos de control con representaciones de wav2vec 2.0 sin ajuste de parámetros.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Box 68"/>
          <p:cNvSpPr/>
          <p:nvPr/>
        </p:nvSpPr>
        <p:spPr>
          <a:xfrm>
            <a:off x="25156800" y="14601240"/>
            <a:ext cx="5679720" cy="25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200" spc="-1" strike="noStrike">
                <a:solidFill>
                  <a:schemeClr val="lt1"/>
                </a:solidFill>
                <a:latin typeface="Arial"/>
                <a:ea typeface="Open Sans"/>
              </a:rPr>
              <a:t>Identificar estrategias de ajuste de parámetros aplicables a la arquitectura de wav2vec 2.0 en escenarios con datos limitados.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72"/>
          <p:cNvSpPr/>
          <p:nvPr/>
        </p:nvSpPr>
        <p:spPr>
          <a:xfrm>
            <a:off x="25205400" y="18138240"/>
            <a:ext cx="5257440" cy="23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000" spc="-1" strike="noStrike">
                <a:solidFill>
                  <a:schemeClr val="lt1"/>
                </a:solidFill>
                <a:latin typeface="Arial"/>
                <a:ea typeface="Open Sans"/>
              </a:rPr>
              <a:t>Implementar diferentes estrategias de ajuste sobre wav2vec 2.0 para adaptarlo a la clasificación entre pacientes con EA y controles.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Box 72"/>
          <p:cNvSpPr/>
          <p:nvPr/>
        </p:nvSpPr>
        <p:spPr>
          <a:xfrm>
            <a:off x="25340400" y="21351240"/>
            <a:ext cx="502812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000" spc="-1" strike="noStrike">
                <a:solidFill>
                  <a:schemeClr val="lt1"/>
                </a:solidFill>
                <a:latin typeface="Arial"/>
                <a:ea typeface="Open Sans"/>
              </a:rPr>
              <a:t>Evaluar y comparar el desempeño, los tiempos de entrenamiento e inferencia y los parámetros entrenables entre el modelo base y las estrategias implementadas.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" name="Picture 54" descr="Logo, icon&#10;&#10;Description automatically generated"/>
          <p:cNvPicPr/>
          <p:nvPr/>
        </p:nvPicPr>
        <p:blipFill>
          <a:blip r:embed="rId9"/>
          <a:stretch/>
        </p:blipFill>
        <p:spPr>
          <a:xfrm>
            <a:off x="23802840" y="14813280"/>
            <a:ext cx="898200" cy="1099080"/>
          </a:xfrm>
          <a:prstGeom prst="rect">
            <a:avLst/>
          </a:prstGeom>
          <a:ln w="0">
            <a:noFill/>
          </a:ln>
        </p:spPr>
      </p:pic>
      <p:pic>
        <p:nvPicPr>
          <p:cNvPr id="51" name="Picture 54" descr="Logo, icon&#10;&#10;Description automatically generated"/>
          <p:cNvPicPr/>
          <p:nvPr/>
        </p:nvPicPr>
        <p:blipFill>
          <a:blip r:embed="rId10"/>
          <a:stretch/>
        </p:blipFill>
        <p:spPr>
          <a:xfrm>
            <a:off x="23802840" y="18602280"/>
            <a:ext cx="898200" cy="1099080"/>
          </a:xfrm>
          <a:prstGeom prst="rect">
            <a:avLst/>
          </a:prstGeom>
          <a:ln w="0">
            <a:noFill/>
          </a:ln>
        </p:spPr>
      </p:pic>
      <p:pic>
        <p:nvPicPr>
          <p:cNvPr id="52" name="Picture 54" descr="Logo, icon&#10;&#10;Description automatically generated"/>
          <p:cNvPicPr/>
          <p:nvPr/>
        </p:nvPicPr>
        <p:blipFill>
          <a:blip r:embed="rId11"/>
          <a:stretch/>
        </p:blipFill>
        <p:spPr>
          <a:xfrm>
            <a:off x="23802840" y="21671280"/>
            <a:ext cx="898200" cy="1099080"/>
          </a:xfrm>
          <a:prstGeom prst="rect">
            <a:avLst/>
          </a:prstGeom>
          <a:ln w="0">
            <a:noFill/>
          </a:ln>
        </p:spPr>
      </p:pic>
      <p:sp>
        <p:nvSpPr>
          <p:cNvPr id="53" name="TextBox 15"/>
          <p:cNvSpPr/>
          <p:nvPr/>
        </p:nvSpPr>
        <p:spPr>
          <a:xfrm>
            <a:off x="768600" y="37452240"/>
            <a:ext cx="74282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chemeClr val="lt1"/>
                </a:solidFill>
                <a:latin typeface="Arial"/>
                <a:ea typeface="DejaVu Sans"/>
              </a:rPr>
              <a:t>DATOS DE CONTACTO DEL AUTOR: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" name="Imagen 59" descr=""/>
          <p:cNvPicPr/>
          <p:nvPr/>
        </p:nvPicPr>
        <p:blipFill>
          <a:blip r:embed="rId12">
            <a:lum bright="70000" contrast="-70000"/>
          </a:blip>
          <a:stretch/>
        </p:blipFill>
        <p:spPr>
          <a:xfrm>
            <a:off x="10672560" y="38266200"/>
            <a:ext cx="699840" cy="699840"/>
          </a:xfrm>
          <a:prstGeom prst="rect">
            <a:avLst/>
          </a:prstGeom>
          <a:ln w="0">
            <a:noFill/>
          </a:ln>
        </p:spPr>
      </p:pic>
      <p:sp>
        <p:nvSpPr>
          <p:cNvPr id="55" name="CuadroTexto 61"/>
          <p:cNvSpPr/>
          <p:nvPr/>
        </p:nvSpPr>
        <p:spPr>
          <a:xfrm>
            <a:off x="11405160" y="38278800"/>
            <a:ext cx="571752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200" spc="-1" strike="noStrike">
                <a:solidFill>
                  <a:schemeClr val="lt1"/>
                </a:solidFill>
                <a:latin typeface="Calibri"/>
                <a:ea typeface="DejaVu Sans"/>
              </a:rPr>
              <a:t>Santiago.alvarez17@udea.edu.co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" name="Imagen 63" descr=""/>
          <p:cNvPicPr/>
          <p:nvPr/>
        </p:nvPicPr>
        <p:blipFill>
          <a:blip r:embed="rId13">
            <a:lum bright="70000" contrast="-70000"/>
          </a:blip>
          <a:stretch/>
        </p:blipFill>
        <p:spPr>
          <a:xfrm>
            <a:off x="4936320" y="38296440"/>
            <a:ext cx="1211400" cy="635400"/>
          </a:xfrm>
          <a:prstGeom prst="rect">
            <a:avLst/>
          </a:prstGeom>
          <a:ln w="0">
            <a:noFill/>
          </a:ln>
        </p:spPr>
      </p:pic>
      <p:sp>
        <p:nvSpPr>
          <p:cNvPr id="57" name="CuadroTexto 67"/>
          <p:cNvSpPr/>
          <p:nvPr/>
        </p:nvSpPr>
        <p:spPr>
          <a:xfrm>
            <a:off x="6029640" y="38256480"/>
            <a:ext cx="33926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200" spc="-1" strike="noStrike">
                <a:solidFill>
                  <a:schemeClr val="lt1"/>
                </a:solidFill>
                <a:latin typeface="Calibri"/>
                <a:ea typeface="DejaVu Sans"/>
              </a:rPr>
              <a:t>+57 3137538637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adroTexto 69"/>
          <p:cNvSpPr/>
          <p:nvPr/>
        </p:nvSpPr>
        <p:spPr>
          <a:xfrm>
            <a:off x="20671560" y="38258280"/>
            <a:ext cx="809100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s-CO" sz="3200" spc="-1" strike="noStrike">
                <a:solidFill>
                  <a:schemeClr val="lt1"/>
                </a:solidFill>
                <a:latin typeface="Calibri"/>
                <a:ea typeface="DejaVu Sans"/>
              </a:rPr>
              <a:t>linkedin.com/in/usuario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" name="Picture 2" descr="Linkedin icono redondo negro"/>
          <p:cNvPicPr/>
          <p:nvPr/>
        </p:nvPicPr>
        <p:blipFill>
          <a:blip r:embed="rId14">
            <a:lum bright="70000" contrast="-70000"/>
          </a:blip>
          <a:stretch/>
        </p:blipFill>
        <p:spPr>
          <a:xfrm>
            <a:off x="19751040" y="38181600"/>
            <a:ext cx="797400" cy="797400"/>
          </a:xfrm>
          <a:prstGeom prst="rect">
            <a:avLst/>
          </a:prstGeom>
          <a:ln w="0">
            <a:noFill/>
          </a:ln>
        </p:spPr>
      </p:pic>
      <p:pic>
        <p:nvPicPr>
          <p:cNvPr id="60" name="Picture 54" descr="Logo, icon&#10;&#10;Description automatically generated"/>
          <p:cNvPicPr/>
          <p:nvPr/>
        </p:nvPicPr>
        <p:blipFill>
          <a:blip r:embed="rId15"/>
          <a:stretch/>
        </p:blipFill>
        <p:spPr>
          <a:xfrm>
            <a:off x="23284440" y="27746280"/>
            <a:ext cx="898200" cy="1099080"/>
          </a:xfrm>
          <a:prstGeom prst="rect">
            <a:avLst/>
          </a:prstGeom>
          <a:ln w="0">
            <a:noFill/>
          </a:ln>
        </p:spPr>
      </p:pic>
      <p:pic>
        <p:nvPicPr>
          <p:cNvPr id="61" name="Picture 54" descr="Logo, icon&#10;&#10;Description automatically generated"/>
          <p:cNvPicPr/>
          <p:nvPr/>
        </p:nvPicPr>
        <p:blipFill>
          <a:blip r:embed="rId16"/>
          <a:stretch/>
        </p:blipFill>
        <p:spPr>
          <a:xfrm>
            <a:off x="23284440" y="29809440"/>
            <a:ext cx="898200" cy="1099080"/>
          </a:xfrm>
          <a:prstGeom prst="rect">
            <a:avLst/>
          </a:prstGeom>
          <a:ln w="0">
            <a:noFill/>
          </a:ln>
        </p:spPr>
      </p:pic>
      <p:pic>
        <p:nvPicPr>
          <p:cNvPr id="62" name="Picture 54" descr="Logo, icon&#10;&#10;Description automatically generated"/>
          <p:cNvPicPr/>
          <p:nvPr/>
        </p:nvPicPr>
        <p:blipFill>
          <a:blip r:embed="rId17"/>
          <a:stretch/>
        </p:blipFill>
        <p:spPr>
          <a:xfrm>
            <a:off x="23284440" y="32232600"/>
            <a:ext cx="898200" cy="1099080"/>
          </a:xfrm>
          <a:prstGeom prst="rect">
            <a:avLst/>
          </a:prstGeom>
          <a:ln w="0">
            <a:noFill/>
          </a:ln>
        </p:spPr>
      </p:pic>
      <p:pic>
        <p:nvPicPr>
          <p:cNvPr id="63" name="Picture 54" descr="Logo, icon&#10;&#10;Description automatically generated"/>
          <p:cNvPicPr/>
          <p:nvPr/>
        </p:nvPicPr>
        <p:blipFill>
          <a:blip r:embed="rId18"/>
          <a:stretch/>
        </p:blipFill>
        <p:spPr>
          <a:xfrm>
            <a:off x="23284440" y="34295760"/>
            <a:ext cx="898200" cy="1099080"/>
          </a:xfrm>
          <a:prstGeom prst="rect">
            <a:avLst/>
          </a:prstGeom>
          <a:ln w="0">
            <a:noFill/>
          </a:ln>
        </p:spPr>
      </p:pic>
      <p:sp>
        <p:nvSpPr>
          <p:cNvPr id="64" name=""/>
          <p:cNvSpPr txBox="1"/>
          <p:nvPr/>
        </p:nvSpPr>
        <p:spPr>
          <a:xfrm>
            <a:off x="1828800" y="28575000"/>
            <a:ext cx="4572000" cy="754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Bottleneck y LoRA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 Superan el baseline en ambas ventanas con hasta un 83.3% de exactitud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Más parametros no es mejor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, el mejor resultado entrena solo el 0.166% de los pesos originales del modelo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b="1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La ubicación es fundamenta</a:t>
            </a:r>
            <a:r>
              <a:rPr b="0" lang="es-CO" sz="28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Open Sans"/>
              </a:rPr>
              <a:t>l, con igual presupuesto de parametros, LoRA pasa de 62.5% a 77.1% de exactitud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9"/>
          <a:stretch/>
        </p:blipFill>
        <p:spPr>
          <a:xfrm>
            <a:off x="7036200" y="27797040"/>
            <a:ext cx="15138000" cy="7864560"/>
          </a:xfrm>
          <a:prstGeom prst="rect">
            <a:avLst/>
          </a:prstGeom>
          <a:ln w="0">
            <a:noFill/>
          </a:ln>
        </p:spPr>
      </p:pic>
      <p:cxnSp>
        <p:nvCxnSpPr>
          <p:cNvPr id="66" name="Straight Connector 1"/>
          <p:cNvCxnSpPr/>
          <p:nvPr/>
        </p:nvCxnSpPr>
        <p:spPr>
          <a:xfrm>
            <a:off x="1196640" y="25786080"/>
            <a:ext cx="22052880" cy="1080"/>
          </a:xfrm>
          <a:prstGeom prst="straightConnector1">
            <a:avLst/>
          </a:prstGeom>
          <a:ln w="6480">
            <a:solidFill>
              <a:srgbClr val="2ab9cb"/>
            </a:solidFill>
            <a:miter/>
          </a:ln>
        </p:spPr>
      </p:cxnSp>
      <p:pic>
        <p:nvPicPr>
          <p:cNvPr id="67" name="" descr=""/>
          <p:cNvPicPr/>
          <p:nvPr/>
        </p:nvPicPr>
        <p:blipFill>
          <a:blip r:embed="rId20"/>
          <a:stretch/>
        </p:blipFill>
        <p:spPr>
          <a:xfrm>
            <a:off x="9372600" y="13635720"/>
            <a:ext cx="13746240" cy="3509280"/>
          </a:xfrm>
          <a:prstGeom prst="rect">
            <a:avLst/>
          </a:prstGeom>
          <a:ln w="0">
            <a:noFill/>
          </a:ln>
        </p:spPr>
      </p:pic>
      <p:pic>
        <p:nvPicPr>
          <p:cNvPr id="68" name="" descr=""/>
          <p:cNvPicPr/>
          <p:nvPr/>
        </p:nvPicPr>
        <p:blipFill>
          <a:blip r:embed="rId21"/>
          <a:stretch/>
        </p:blipFill>
        <p:spPr>
          <a:xfrm>
            <a:off x="914400" y="20282400"/>
            <a:ext cx="21781440" cy="518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2022-09-13T19:42:38Z</dcterms:created>
  <dc:creator>David Garcia Cano</dc:creator>
  <dc:description/>
  <dc:language>en-US</dc:language>
  <cp:lastModifiedBy/>
  <cp:lastPrinted>2026-10-13T20:43:40Z</cp:lastPrinted>
  <dcterms:modified xsi:type="dcterms:W3CDTF">2026-10-13T21:00:49Z</dcterms:modified>
  <cp:revision>10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8EC498A6-9D3C-42A5-B822-D2C5CEB92701</vt:lpwstr>
  </property>
  <property fmtid="{D5CDD505-2E9C-101B-9397-08002B2CF9AE}" pid="3" name="ArticulatePath">
    <vt:lpwstr>Presentation1</vt:lpwstr>
  </property>
  <property fmtid="{D5CDD505-2E9C-101B-9397-08002B2CF9AE}" pid="4" name="ContentTypeId">
    <vt:lpwstr>0x010100E0EB4C5741BC274EBAAB5B79967DCE29</vt:lpwstr>
  </property>
  <property fmtid="{D5CDD505-2E9C-101B-9397-08002B2CF9AE}" pid="5" name="MediaServiceImageTags">
    <vt:lpwstr/>
  </property>
  <property fmtid="{D5CDD505-2E9C-101B-9397-08002B2CF9AE}" pid="6" name="PresentationFormat">
    <vt:lpwstr>Custom</vt:lpwstr>
  </property>
  <property fmtid="{D5CDD505-2E9C-101B-9397-08002B2CF9AE}" pid="7" name="Slides">
    <vt:r8>1</vt:r8>
  </property>
</Properties>
</file>