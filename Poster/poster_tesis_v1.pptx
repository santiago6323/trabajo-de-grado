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2.png" ContentType="image/png"/>
  <Override PartName="/ppt/media/image3.png" ContentType="image/png"/>
  <Override PartName="/ppt/media/image14.png" ContentType="image/png"/>
  <Override PartName="/ppt/media/image5.png" ContentType="image/png"/>
  <Override PartName="/ppt/media/image8.svg" ContentType="image/sv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9.png" ContentType="image/png"/>
  <Override PartName="/ppt/media/image1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32399288" cy="39600188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430000" y="6480720"/>
            <a:ext cx="27537480" cy="137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619640" y="9266400"/>
            <a:ext cx="29158920" cy="229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ED6CDE-8683-46AB-BCF3-48F1931DEB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430000" y="6480720"/>
            <a:ext cx="27537480" cy="137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10732320" y="36703440"/>
            <a:ext cx="10932840" cy="210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22881960" y="36703440"/>
            <a:ext cx="7288200" cy="210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25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64D5412-7EC4-4D2A-BB5E-3795040F2F7B}" type="slidenum">
              <a:rPr b="0" lang="en-US" sz="425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4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2227320" y="36703440"/>
            <a:ext cx="7288200" cy="210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1619640" y="9266400"/>
            <a:ext cx="29158920" cy="229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5.png"/><Relationship Id="rId10" Type="http://schemas.openxmlformats.org/officeDocument/2006/relationships/image" Target="../media/image5.png"/><Relationship Id="rId11" Type="http://schemas.openxmlformats.org/officeDocument/2006/relationships/image" Target="../media/image5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image" Target="../media/image5.png"/><Relationship Id="rId16" Type="http://schemas.openxmlformats.org/officeDocument/2006/relationships/image" Target="../media/image5.png"/><Relationship Id="rId17" Type="http://schemas.openxmlformats.org/officeDocument/2006/relationships/image" Target="../media/image5.png"/><Relationship Id="rId18" Type="http://schemas.openxmlformats.org/officeDocument/2006/relationships/image" Target="../media/image5.png"/><Relationship Id="rId19" Type="http://schemas.openxmlformats.org/officeDocument/2006/relationships/image" Target="../media/image12.png"/><Relationship Id="rId20" Type="http://schemas.openxmlformats.org/officeDocument/2006/relationships/image" Target="../media/image13.png"/><Relationship Id="rId21" Type="http://schemas.openxmlformats.org/officeDocument/2006/relationships/image" Target="../media/image14.png"/><Relationship Id="rId22" Type="http://schemas.openxmlformats.org/officeDocument/2006/relationships/image" Target="../media/image15.png"/><Relationship Id="rId2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4"/>
          <p:cNvSpPr/>
          <p:nvPr/>
        </p:nvSpPr>
        <p:spPr>
          <a:xfrm>
            <a:off x="13320" y="36938880"/>
            <a:ext cx="32377680" cy="2243160"/>
          </a:xfrm>
          <a:prstGeom prst="rect">
            <a:avLst/>
          </a:prstGeom>
          <a:solidFill>
            <a:srgbClr val="00729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" name="Rectángulo 1"/>
          <p:cNvSpPr/>
          <p:nvPr/>
        </p:nvSpPr>
        <p:spPr>
          <a:xfrm>
            <a:off x="-9720" y="-122040"/>
            <a:ext cx="32493240" cy="4885560"/>
          </a:xfrm>
          <a:prstGeom prst="rect">
            <a:avLst/>
          </a:prstGeom>
          <a:solidFill>
            <a:srgbClr val="007297"/>
          </a:solidFill>
          <a:ln w="12600">
            <a:solidFill>
              <a:srgbClr val="a5a5a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" name="Rectángulo 2"/>
          <p:cNvSpPr/>
          <p:nvPr/>
        </p:nvSpPr>
        <p:spPr>
          <a:xfrm>
            <a:off x="0" y="4702680"/>
            <a:ext cx="32483520" cy="2322000"/>
          </a:xfrm>
          <a:prstGeom prst="rect">
            <a:avLst/>
          </a:prstGeom>
          <a:solidFill>
            <a:srgbClr val="0083ac"/>
          </a:solidFill>
          <a:ln w="12600">
            <a:solidFill>
              <a:srgbClr val="4472c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" name="TextBox 209"/>
          <p:cNvSpPr/>
          <p:nvPr/>
        </p:nvSpPr>
        <p:spPr>
          <a:xfrm>
            <a:off x="2772360" y="8006760"/>
            <a:ext cx="59947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007297"/>
                </a:solidFill>
                <a:latin typeface="Arial"/>
                <a:ea typeface="DejaVu Sans"/>
              </a:rPr>
              <a:t>Introducción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val 211"/>
          <p:cNvSpPr/>
          <p:nvPr/>
        </p:nvSpPr>
        <p:spPr>
          <a:xfrm>
            <a:off x="514440" y="7677000"/>
            <a:ext cx="1848600" cy="1848600"/>
          </a:xfrm>
          <a:prstGeom prst="ellipse">
            <a:avLst/>
          </a:prstGeom>
          <a:solidFill>
            <a:srgbClr val="93d5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cxnSp>
        <p:nvCxnSpPr>
          <p:cNvPr id="12" name="Straight Connector 29"/>
          <p:cNvCxnSpPr/>
          <p:nvPr/>
        </p:nvCxnSpPr>
        <p:spPr>
          <a:xfrm>
            <a:off x="1147680" y="7580160"/>
            <a:ext cx="22812480" cy="16560"/>
          </a:xfrm>
          <a:prstGeom prst="straightConnector1">
            <a:avLst/>
          </a:prstGeom>
          <a:ln w="27360">
            <a:solidFill>
              <a:srgbClr val="2ab9cb"/>
            </a:solidFill>
            <a:miter/>
          </a:ln>
        </p:spPr>
      </p:cxnSp>
      <p:sp>
        <p:nvSpPr>
          <p:cNvPr id="13" name="TextBox 35"/>
          <p:cNvSpPr/>
          <p:nvPr/>
        </p:nvSpPr>
        <p:spPr>
          <a:xfrm>
            <a:off x="1103400" y="9547200"/>
            <a:ext cx="11397240" cy="53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En Colombia, solo en 2024 se registraron </a:t>
            </a: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4.320 muertes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 atribuidas a la enfermedad de Alzheimer (AD). La enfermedad afecta el lenguaje y el habla, un biomarcador simple, económico y no invasivo.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El aprendizaje profundo ha permitido modelar automáticamente esta información sin depender de características diseñadas a mano. wav2vec 2.0 ofrece representaciones robustas del habla, pero ajustarlos con bases de datos clínicas pequeñas conduce al sobreajuste.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Este trabajo evalúa estrategias de </a:t>
            </a: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ajuste fino de parámetros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 (PEFT) para adaptar wav2vec 2.0 con pocos datos para la clasificación de AD contra pacientes de control (CTR)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39"/>
          <p:cNvSpPr/>
          <p:nvPr/>
        </p:nvSpPr>
        <p:spPr>
          <a:xfrm>
            <a:off x="13487400" y="9669960"/>
            <a:ext cx="8939880" cy="47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</a:pP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Se usó la base de datos del reto </a:t>
            </a: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ADReSS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, tomada del Pitt Corpus de DementiaBank, en la que los participantes describen la lámina Cookie Theft 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Este corpus se encuentra balanceado por edad y género, y contiene </a:t>
            </a: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156 sujetos (78 AD y 78 CTR)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, divididos en 108 de entrenamiento y 48 de prueba.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Del entrenamiento se separó un conjunto de validación fijo (87/21) para optimizar hiperparámetros, y la prueba se reservó para la evaluación final.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151"/>
          <p:cNvSpPr/>
          <p:nvPr/>
        </p:nvSpPr>
        <p:spPr>
          <a:xfrm>
            <a:off x="2692440" y="15458040"/>
            <a:ext cx="59947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007297"/>
                </a:solidFill>
                <a:latin typeface="Arial"/>
                <a:ea typeface="DejaVu Sans"/>
              </a:rPr>
              <a:t>Metodología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Oval 154"/>
          <p:cNvSpPr/>
          <p:nvPr/>
        </p:nvSpPr>
        <p:spPr>
          <a:xfrm>
            <a:off x="514440" y="15138000"/>
            <a:ext cx="1848600" cy="1848600"/>
          </a:xfrm>
          <a:prstGeom prst="ellipse">
            <a:avLst/>
          </a:prstGeom>
          <a:solidFill>
            <a:srgbClr val="93d5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7" name="TextBox 165"/>
          <p:cNvSpPr/>
          <p:nvPr/>
        </p:nvSpPr>
        <p:spPr>
          <a:xfrm>
            <a:off x="2626200" y="28220400"/>
            <a:ext cx="59947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007297"/>
                </a:solidFill>
                <a:latin typeface="Arial"/>
                <a:ea typeface="DejaVu Sans"/>
              </a:rPr>
              <a:t>Resultados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Oval 169"/>
          <p:cNvSpPr/>
          <p:nvPr/>
        </p:nvSpPr>
        <p:spPr>
          <a:xfrm>
            <a:off x="478440" y="27872280"/>
            <a:ext cx="1848600" cy="1848600"/>
          </a:xfrm>
          <a:prstGeom prst="ellipse">
            <a:avLst/>
          </a:prstGeom>
          <a:solidFill>
            <a:srgbClr val="93d5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9" name="Rectangle 201"/>
          <p:cNvSpPr/>
          <p:nvPr/>
        </p:nvSpPr>
        <p:spPr>
          <a:xfrm>
            <a:off x="23567400" y="24700320"/>
            <a:ext cx="7280280" cy="1107000"/>
          </a:xfrm>
          <a:prstGeom prst="rect">
            <a:avLst/>
          </a:prstGeom>
          <a:solidFill>
            <a:srgbClr val="e6e6e6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0" name="TextBox 205"/>
          <p:cNvSpPr/>
          <p:nvPr/>
        </p:nvSpPr>
        <p:spPr>
          <a:xfrm>
            <a:off x="23799600" y="24792840"/>
            <a:ext cx="58953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007297"/>
                </a:solidFill>
                <a:latin typeface="Arial"/>
                <a:ea typeface="Open Sans"/>
              </a:rPr>
              <a:t>Conclusiones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219"/>
          <p:cNvSpPr/>
          <p:nvPr/>
        </p:nvSpPr>
        <p:spPr>
          <a:xfrm>
            <a:off x="24267600" y="26283960"/>
            <a:ext cx="6364440" cy="22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</a:pP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Bottleneck y LoRA permitieron clasificar AD frente a CTR en un entorno de datos limitados, superando  al modelo congelado en ambas duraciones de ventana.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234"/>
          <p:cNvSpPr/>
          <p:nvPr/>
        </p:nvSpPr>
        <p:spPr>
          <a:xfrm>
            <a:off x="24267600" y="28923120"/>
            <a:ext cx="6593040" cy="22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</a:pP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PEFT ajusta menos del 1.5 % de parámetros del modelo original, superando el baseline y el descongelamiento parcial donde se ajusta la totalidad del modelo.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Box 243"/>
          <p:cNvSpPr/>
          <p:nvPr/>
        </p:nvSpPr>
        <p:spPr>
          <a:xfrm>
            <a:off x="24244200" y="31723920"/>
            <a:ext cx="6566040" cy="22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</a:pP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Las ventanas más largas ofrecen al modelo un mayor contexto capturando mejor los fenomenos asociados al AD como pausas, cambios de ritmo y pérdida de fluidez en el discurso.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Box 250"/>
          <p:cNvSpPr/>
          <p:nvPr/>
        </p:nvSpPr>
        <p:spPr>
          <a:xfrm>
            <a:off x="24163200" y="34705440"/>
            <a:ext cx="669744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</a:pP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La adaptación inteligente ajusta las capas léxico-semánticas, justo donde el habla con AD se deteriora, y deja intactas las capas acústicas.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Imagen 6" descr=""/>
          <p:cNvPicPr/>
          <p:nvPr/>
        </p:nvPicPr>
        <p:blipFill>
          <a:blip r:embed="rId1"/>
          <a:stretch/>
        </p:blipFill>
        <p:spPr>
          <a:xfrm>
            <a:off x="440640" y="27850680"/>
            <a:ext cx="1848600" cy="1848600"/>
          </a:xfrm>
          <a:prstGeom prst="rect">
            <a:avLst/>
          </a:prstGeom>
          <a:ln w="0">
            <a:noFill/>
          </a:ln>
        </p:spPr>
      </p:pic>
      <p:pic>
        <p:nvPicPr>
          <p:cNvPr id="26" name="Imagen 12" descr=""/>
          <p:cNvPicPr/>
          <p:nvPr/>
        </p:nvPicPr>
        <p:blipFill>
          <a:blip r:embed="rId2"/>
          <a:stretch/>
        </p:blipFill>
        <p:spPr>
          <a:xfrm>
            <a:off x="874440" y="15371280"/>
            <a:ext cx="1379160" cy="1382040"/>
          </a:xfrm>
          <a:prstGeom prst="rect">
            <a:avLst/>
          </a:prstGeom>
          <a:ln w="0">
            <a:noFill/>
          </a:ln>
        </p:spPr>
      </p:pic>
      <p:pic>
        <p:nvPicPr>
          <p:cNvPr id="27" name="Imagen 14" descr=""/>
          <p:cNvPicPr/>
          <p:nvPr/>
        </p:nvPicPr>
        <p:blipFill>
          <a:blip r:embed="rId3"/>
          <a:stretch/>
        </p:blipFill>
        <p:spPr>
          <a:xfrm>
            <a:off x="946440" y="8030880"/>
            <a:ext cx="1159560" cy="1235520"/>
          </a:xfrm>
          <a:prstGeom prst="rect">
            <a:avLst/>
          </a:prstGeom>
          <a:ln w="0">
            <a:noFill/>
          </a:ln>
        </p:spPr>
      </p:pic>
      <p:sp>
        <p:nvSpPr>
          <p:cNvPr id="28" name="Rectángulo 90"/>
          <p:cNvSpPr/>
          <p:nvPr/>
        </p:nvSpPr>
        <p:spPr>
          <a:xfrm>
            <a:off x="10080" y="39175200"/>
            <a:ext cx="32377680" cy="425160"/>
          </a:xfrm>
          <a:prstGeom prst="rect">
            <a:avLst/>
          </a:prstGeom>
          <a:solidFill>
            <a:srgbClr val="0083a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" name="TextBox 15"/>
          <p:cNvSpPr/>
          <p:nvPr/>
        </p:nvSpPr>
        <p:spPr>
          <a:xfrm>
            <a:off x="861480" y="5023080"/>
            <a:ext cx="186375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CO" sz="4400" spc="-1" strike="noStrike">
                <a:solidFill>
                  <a:schemeClr val="lt1"/>
                </a:solidFill>
                <a:latin typeface="Arial"/>
                <a:ea typeface="DejaVu Sans"/>
              </a:rPr>
              <a:t>PRACTICANTE: Santiago Álvarez Zuluaga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Box 15"/>
          <p:cNvSpPr/>
          <p:nvPr/>
        </p:nvSpPr>
        <p:spPr>
          <a:xfrm>
            <a:off x="874080" y="5973120"/>
            <a:ext cx="184586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CO" sz="4400" spc="-1" strike="noStrike">
                <a:solidFill>
                  <a:schemeClr val="lt1"/>
                </a:solidFill>
                <a:latin typeface="Arial"/>
                <a:ea typeface="DejaVu Sans"/>
              </a:rPr>
              <a:t>ASESOR: Cristian David Ríos Urrego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Box 15"/>
          <p:cNvSpPr/>
          <p:nvPr/>
        </p:nvSpPr>
        <p:spPr>
          <a:xfrm>
            <a:off x="19931760" y="5004360"/>
            <a:ext cx="115869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CO" sz="4400" spc="-1" strike="noStrike">
                <a:solidFill>
                  <a:schemeClr val="lt1"/>
                </a:solidFill>
                <a:latin typeface="Arial"/>
                <a:ea typeface="DejaVu Sans"/>
              </a:rPr>
              <a:t>PROGRAMA: </a:t>
            </a:r>
            <a:r>
              <a:rPr b="1" lang="es-CO" sz="3400" spc="-1" strike="noStrike">
                <a:solidFill>
                  <a:schemeClr val="lt1"/>
                </a:solidFill>
                <a:latin typeface="Arial"/>
                <a:ea typeface="DejaVu Sans"/>
              </a:rPr>
              <a:t>Ingeniería de Telecomunicaciones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Box 13"/>
          <p:cNvSpPr/>
          <p:nvPr/>
        </p:nvSpPr>
        <p:spPr>
          <a:xfrm>
            <a:off x="545400" y="914400"/>
            <a:ext cx="18647640" cy="34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90000"/>
              </a:lnSpc>
            </a:pPr>
            <a:r>
              <a:rPr b="1" lang="es-CO" sz="6200" spc="-1" strike="noStrike">
                <a:solidFill>
                  <a:schemeClr val="lt1"/>
                </a:solidFill>
                <a:latin typeface="Arial"/>
                <a:ea typeface="DejaVu Sans"/>
              </a:rPr>
              <a:t>Ajuste fino de parámetros sobre wav2vec 2.0 para la clasificación de la enfermedad de Alzheimer mediante señales de voz en condiciones de datos limitados</a:t>
            </a:r>
            <a:endParaRPr b="0" lang="en-US" sz="6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Box 15"/>
          <p:cNvSpPr/>
          <p:nvPr/>
        </p:nvSpPr>
        <p:spPr>
          <a:xfrm>
            <a:off x="19931760" y="6024600"/>
            <a:ext cx="115869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CO" sz="3200" spc="-1" strike="noStrike">
                <a:solidFill>
                  <a:schemeClr val="lt1"/>
                </a:solidFill>
                <a:latin typeface="Arial"/>
                <a:ea typeface="DejaVu Sans"/>
              </a:rPr>
              <a:t>Semestre de la práctica: 2026-2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" name="Imagen 19" descr=""/>
          <p:cNvPicPr/>
          <p:nvPr/>
        </p:nvPicPr>
        <p:blipFill>
          <a:blip r:embed="rId4"/>
          <a:stretch/>
        </p:blipFill>
        <p:spPr>
          <a:xfrm>
            <a:off x="19590480" y="429480"/>
            <a:ext cx="11851200" cy="3804120"/>
          </a:xfrm>
          <a:prstGeom prst="rect">
            <a:avLst/>
          </a:prstGeom>
          <a:ln w="0">
            <a:noFill/>
          </a:ln>
        </p:spPr>
      </p:pic>
      <p:sp>
        <p:nvSpPr>
          <p:cNvPr id="35" name="TextBox 15"/>
          <p:cNvSpPr/>
          <p:nvPr/>
        </p:nvSpPr>
        <p:spPr>
          <a:xfrm>
            <a:off x="545400" y="229320"/>
            <a:ext cx="169110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chemeClr val="lt1"/>
                </a:solidFill>
                <a:latin typeface="Times New Roman"/>
                <a:ea typeface="DejaVu Sans"/>
              </a:rPr>
              <a:t>Departamento de Ingeniería Electrónica y de Telecomunicaciones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Rectángulo redondeado 3"/>
          <p:cNvSpPr/>
          <p:nvPr/>
        </p:nvSpPr>
        <p:spPr>
          <a:xfrm>
            <a:off x="23677200" y="8606160"/>
            <a:ext cx="7542720" cy="14939280"/>
          </a:xfrm>
          <a:prstGeom prst="roundRect">
            <a:avLst>
              <a:gd name="adj" fmla="val 16667"/>
            </a:avLst>
          </a:prstGeom>
          <a:solidFill>
            <a:srgbClr val="0083ac"/>
          </a:solidFill>
          <a:ln w="12600">
            <a:solidFill>
              <a:srgbClr val="4472c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CO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" name="Oval 32"/>
          <p:cNvSpPr/>
          <p:nvPr/>
        </p:nvSpPr>
        <p:spPr>
          <a:xfrm>
            <a:off x="24483960" y="8721000"/>
            <a:ext cx="1848600" cy="1848600"/>
          </a:xfrm>
          <a:prstGeom prst="ellipse">
            <a:avLst/>
          </a:prstGeom>
          <a:solidFill>
            <a:srgbClr val="93d5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pic>
        <p:nvPicPr>
          <p:cNvPr id="38" name="Picture 54" descr="Logo, icon&#10;&#10;Description automatically generated"/>
          <p:cNvPicPr/>
          <p:nvPr/>
        </p:nvPicPr>
        <p:blipFill>
          <a:blip r:embed="rId5"/>
          <a:stretch/>
        </p:blipFill>
        <p:spPr>
          <a:xfrm>
            <a:off x="23802840" y="11852280"/>
            <a:ext cx="897480" cy="1098360"/>
          </a:xfrm>
          <a:prstGeom prst="rect">
            <a:avLst/>
          </a:prstGeom>
          <a:ln w="0">
            <a:noFill/>
          </a:ln>
        </p:spPr>
      </p:pic>
      <p:cxnSp>
        <p:nvCxnSpPr>
          <p:cNvPr id="39" name="Straight Connector 134"/>
          <p:cNvCxnSpPr/>
          <p:nvPr/>
        </p:nvCxnSpPr>
        <p:spPr>
          <a:xfrm>
            <a:off x="22768560" y="14040000"/>
            <a:ext cx="8382600" cy="1800"/>
          </a:xfrm>
          <a:prstGeom prst="straightConnector1">
            <a:avLst/>
          </a:prstGeom>
          <a:ln w="12600">
            <a:solidFill>
              <a:srgbClr val="ffffff"/>
            </a:solidFill>
            <a:prstDash val="dashDot"/>
            <a:miter/>
          </a:ln>
        </p:spPr>
      </p:cxnSp>
      <p:pic>
        <p:nvPicPr>
          <p:cNvPr id="40" name="Imagen 28" descr=""/>
          <p:cNvPicPr/>
          <p:nvPr/>
        </p:nvPicPr>
        <p:blipFill>
          <a:blip r:embed="rId6"/>
          <a:stretch/>
        </p:blipFill>
        <p:spPr>
          <a:xfrm>
            <a:off x="24225840" y="8900280"/>
            <a:ext cx="2474640" cy="1421640"/>
          </a:xfrm>
          <a:prstGeom prst="rect">
            <a:avLst/>
          </a:prstGeom>
          <a:ln w="0">
            <a:noFill/>
          </a:ln>
        </p:spPr>
      </p:pic>
      <p:cxnSp>
        <p:nvCxnSpPr>
          <p:cNvPr id="41" name="Straight Connector 136"/>
          <p:cNvCxnSpPr/>
          <p:nvPr/>
        </p:nvCxnSpPr>
        <p:spPr>
          <a:xfrm>
            <a:off x="22768560" y="17109000"/>
            <a:ext cx="8382600" cy="1800"/>
          </a:xfrm>
          <a:prstGeom prst="straightConnector1">
            <a:avLst/>
          </a:prstGeom>
          <a:ln w="12600">
            <a:solidFill>
              <a:srgbClr val="ffffff"/>
            </a:solidFill>
            <a:prstDash val="dashDot"/>
            <a:miter/>
          </a:ln>
        </p:spPr>
      </p:cxnSp>
      <p:cxnSp>
        <p:nvCxnSpPr>
          <p:cNvPr id="42" name="Straight Connector 136"/>
          <p:cNvCxnSpPr/>
          <p:nvPr/>
        </p:nvCxnSpPr>
        <p:spPr>
          <a:xfrm>
            <a:off x="22768560" y="20286000"/>
            <a:ext cx="8382600" cy="1800"/>
          </a:xfrm>
          <a:prstGeom prst="straightConnector1">
            <a:avLst/>
          </a:prstGeom>
          <a:ln w="12600">
            <a:solidFill>
              <a:srgbClr val="ffffff"/>
            </a:solidFill>
            <a:prstDash val="dashDot"/>
            <a:miter/>
          </a:ln>
        </p:spPr>
      </p:cxnSp>
      <p:pic>
        <p:nvPicPr>
          <p:cNvPr id="43" name="Gráfico 25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 rot="10800000">
            <a:off x="28444320" y="8668080"/>
            <a:ext cx="2039400" cy="1853640"/>
          </a:xfrm>
          <a:prstGeom prst="rect">
            <a:avLst/>
          </a:prstGeom>
          <a:ln w="0">
            <a:noFill/>
          </a:ln>
        </p:spPr>
      </p:pic>
      <p:sp>
        <p:nvSpPr>
          <p:cNvPr id="44" name="TextBox 34"/>
          <p:cNvSpPr/>
          <p:nvPr/>
        </p:nvSpPr>
        <p:spPr>
          <a:xfrm>
            <a:off x="26342640" y="9231480"/>
            <a:ext cx="59947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6000" spc="-1" strike="noStrike">
                <a:solidFill>
                  <a:schemeClr val="lt1"/>
                </a:solidFill>
                <a:latin typeface="Arial"/>
                <a:ea typeface="DejaVu Sans"/>
              </a:rPr>
              <a:t>Objetivos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Box 64"/>
          <p:cNvSpPr/>
          <p:nvPr/>
        </p:nvSpPr>
        <p:spPr>
          <a:xfrm>
            <a:off x="25122600" y="11424240"/>
            <a:ext cx="5713200" cy="22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</a:pPr>
            <a:r>
              <a:rPr b="0" lang="es-CO" sz="2800" spc="-1" strike="noStrike">
                <a:solidFill>
                  <a:schemeClr val="lt1"/>
                </a:solidFill>
                <a:latin typeface="Arial"/>
                <a:ea typeface="Open Sans"/>
              </a:rPr>
              <a:t>Establecer un baseline de clasificación de pacientes con AD y sujetos de control con representaciones de wav2vec 2.0 sin ajuste de parámetros.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68"/>
          <p:cNvSpPr/>
          <p:nvPr/>
        </p:nvSpPr>
        <p:spPr>
          <a:xfrm>
            <a:off x="25156800" y="14637240"/>
            <a:ext cx="567900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</a:pPr>
            <a:r>
              <a:rPr b="0" lang="es-CO" sz="2800" spc="-1" strike="noStrike">
                <a:solidFill>
                  <a:schemeClr val="lt1"/>
                </a:solidFill>
                <a:latin typeface="Arial"/>
                <a:ea typeface="Open Sans"/>
              </a:rPr>
              <a:t>Identificar estrategias de ajuste de parámetros aplicables a la arquitectura de wav2vec 2.0 en escenarios con datos limitados.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72"/>
          <p:cNvSpPr/>
          <p:nvPr/>
        </p:nvSpPr>
        <p:spPr>
          <a:xfrm>
            <a:off x="25205400" y="17742240"/>
            <a:ext cx="565524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</a:pPr>
            <a:r>
              <a:rPr b="0" lang="es-CO" sz="2800" spc="-1" strike="noStrike">
                <a:solidFill>
                  <a:schemeClr val="lt1"/>
                </a:solidFill>
                <a:latin typeface="Arial"/>
                <a:ea typeface="Open Sans"/>
              </a:rPr>
              <a:t>Implementar diferentes estrategias de ajuste sobre wav2vec 2.0 para adaptarlo a la clasificación entre pacientes con AD y controles.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Box 72"/>
          <p:cNvSpPr/>
          <p:nvPr/>
        </p:nvSpPr>
        <p:spPr>
          <a:xfrm>
            <a:off x="25196400" y="20739240"/>
            <a:ext cx="5520240" cy="22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</a:pPr>
            <a:r>
              <a:rPr b="0" lang="es-CO" sz="2800" spc="-1" strike="noStrike">
                <a:solidFill>
                  <a:schemeClr val="lt1"/>
                </a:solidFill>
                <a:latin typeface="Arial"/>
                <a:ea typeface="Open Sans"/>
              </a:rPr>
              <a:t>Evaluar y comparar el desempeño y el numero de  parámetros entrenables entre el modelo base y las estrategias implementadas.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Picture 54" descr="Logo, icon&#10;&#10;Description automatically generated"/>
          <p:cNvPicPr/>
          <p:nvPr/>
        </p:nvPicPr>
        <p:blipFill>
          <a:blip r:embed="rId9"/>
          <a:stretch/>
        </p:blipFill>
        <p:spPr>
          <a:xfrm>
            <a:off x="23802840" y="14921280"/>
            <a:ext cx="897480" cy="1098360"/>
          </a:xfrm>
          <a:prstGeom prst="rect">
            <a:avLst/>
          </a:prstGeom>
          <a:ln w="0">
            <a:noFill/>
          </a:ln>
        </p:spPr>
      </p:pic>
      <p:pic>
        <p:nvPicPr>
          <p:cNvPr id="50" name="Picture 54" descr="Logo, icon&#10;&#10;Description automatically generated"/>
          <p:cNvPicPr/>
          <p:nvPr/>
        </p:nvPicPr>
        <p:blipFill>
          <a:blip r:embed="rId10"/>
          <a:stretch/>
        </p:blipFill>
        <p:spPr>
          <a:xfrm>
            <a:off x="23802840" y="18098280"/>
            <a:ext cx="897480" cy="1098360"/>
          </a:xfrm>
          <a:prstGeom prst="rect">
            <a:avLst/>
          </a:prstGeom>
          <a:ln w="0">
            <a:noFill/>
          </a:ln>
        </p:spPr>
      </p:pic>
      <p:pic>
        <p:nvPicPr>
          <p:cNvPr id="51" name="Picture 54" descr="Logo, icon&#10;&#10;Description automatically generated"/>
          <p:cNvPicPr/>
          <p:nvPr/>
        </p:nvPicPr>
        <p:blipFill>
          <a:blip r:embed="rId11"/>
          <a:stretch/>
        </p:blipFill>
        <p:spPr>
          <a:xfrm>
            <a:off x="23802840" y="20915280"/>
            <a:ext cx="897480" cy="1098360"/>
          </a:xfrm>
          <a:prstGeom prst="rect">
            <a:avLst/>
          </a:prstGeom>
          <a:ln w="0">
            <a:noFill/>
          </a:ln>
        </p:spPr>
      </p:pic>
      <p:sp>
        <p:nvSpPr>
          <p:cNvPr id="52" name="TextBox 15"/>
          <p:cNvSpPr/>
          <p:nvPr/>
        </p:nvSpPr>
        <p:spPr>
          <a:xfrm>
            <a:off x="768600" y="37452240"/>
            <a:ext cx="74275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chemeClr val="lt1"/>
                </a:solidFill>
                <a:latin typeface="Arial"/>
                <a:ea typeface="DejaVu Sans"/>
              </a:rPr>
              <a:t>DATOS DE CONTACTO DEL AUTOR: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Imagen 59" descr=""/>
          <p:cNvPicPr/>
          <p:nvPr/>
        </p:nvPicPr>
        <p:blipFill>
          <a:blip r:embed="rId12">
            <a:lum bright="70000" contrast="-70000"/>
          </a:blip>
          <a:stretch/>
        </p:blipFill>
        <p:spPr>
          <a:xfrm>
            <a:off x="10672560" y="38266200"/>
            <a:ext cx="699120" cy="699120"/>
          </a:xfrm>
          <a:prstGeom prst="rect">
            <a:avLst/>
          </a:prstGeom>
          <a:ln w="0">
            <a:noFill/>
          </a:ln>
        </p:spPr>
      </p:pic>
      <p:sp>
        <p:nvSpPr>
          <p:cNvPr id="54" name="CuadroTexto 61"/>
          <p:cNvSpPr/>
          <p:nvPr/>
        </p:nvSpPr>
        <p:spPr>
          <a:xfrm>
            <a:off x="11405160" y="38278800"/>
            <a:ext cx="57168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CO" sz="3200" spc="-1" strike="noStrike">
                <a:solidFill>
                  <a:schemeClr val="lt1"/>
                </a:solidFill>
                <a:latin typeface="Calibri"/>
                <a:ea typeface="DejaVu Sans"/>
              </a:rPr>
              <a:t>Santiago.alvarez17@udea.edu.co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Imagen 63" descr=""/>
          <p:cNvPicPr/>
          <p:nvPr/>
        </p:nvPicPr>
        <p:blipFill>
          <a:blip r:embed="rId13">
            <a:lum bright="70000" contrast="-70000"/>
          </a:blip>
          <a:stretch/>
        </p:blipFill>
        <p:spPr>
          <a:xfrm>
            <a:off x="4936320" y="38296440"/>
            <a:ext cx="1210680" cy="634680"/>
          </a:xfrm>
          <a:prstGeom prst="rect">
            <a:avLst/>
          </a:prstGeom>
          <a:ln w="0">
            <a:noFill/>
          </a:ln>
        </p:spPr>
      </p:pic>
      <p:sp>
        <p:nvSpPr>
          <p:cNvPr id="56" name="CuadroTexto 67"/>
          <p:cNvSpPr/>
          <p:nvPr/>
        </p:nvSpPr>
        <p:spPr>
          <a:xfrm>
            <a:off x="6029640" y="38256480"/>
            <a:ext cx="33919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CO" sz="3200" spc="-1" strike="noStrike">
                <a:solidFill>
                  <a:schemeClr val="lt1"/>
                </a:solidFill>
                <a:latin typeface="Calibri"/>
                <a:ea typeface="DejaVu Sans"/>
              </a:rPr>
              <a:t>+57 3137538637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CuadroTexto 69"/>
          <p:cNvSpPr/>
          <p:nvPr/>
        </p:nvSpPr>
        <p:spPr>
          <a:xfrm>
            <a:off x="20671560" y="38258280"/>
            <a:ext cx="809028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CO" sz="3200" spc="-1" strike="noStrike">
                <a:solidFill>
                  <a:schemeClr val="lt1"/>
                </a:solidFill>
                <a:latin typeface="Calibri"/>
                <a:ea typeface="DejaVu Sans"/>
              </a:rPr>
              <a:t>linkedin.com/in/sanrezzg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Picture 2" descr="Linkedin icono redondo negro"/>
          <p:cNvPicPr/>
          <p:nvPr/>
        </p:nvPicPr>
        <p:blipFill>
          <a:blip r:embed="rId14">
            <a:lum bright="70000" contrast="-70000"/>
          </a:blip>
          <a:stretch/>
        </p:blipFill>
        <p:spPr>
          <a:xfrm>
            <a:off x="19751040" y="38181600"/>
            <a:ext cx="796680" cy="796680"/>
          </a:xfrm>
          <a:prstGeom prst="rect">
            <a:avLst/>
          </a:prstGeom>
          <a:ln w="0">
            <a:noFill/>
          </a:ln>
        </p:spPr>
      </p:pic>
      <p:pic>
        <p:nvPicPr>
          <p:cNvPr id="59" name="Picture 54" descr="Logo, icon&#10;&#10;Description automatically generated"/>
          <p:cNvPicPr/>
          <p:nvPr/>
        </p:nvPicPr>
        <p:blipFill>
          <a:blip r:embed="rId15"/>
          <a:stretch/>
        </p:blipFill>
        <p:spPr>
          <a:xfrm>
            <a:off x="23284440" y="26306280"/>
            <a:ext cx="897480" cy="1098360"/>
          </a:xfrm>
          <a:prstGeom prst="rect">
            <a:avLst/>
          </a:prstGeom>
          <a:ln w="0">
            <a:noFill/>
          </a:ln>
        </p:spPr>
      </p:pic>
      <p:pic>
        <p:nvPicPr>
          <p:cNvPr id="60" name="Picture 54" descr="Logo, icon&#10;&#10;Description automatically generated"/>
          <p:cNvPicPr/>
          <p:nvPr/>
        </p:nvPicPr>
        <p:blipFill>
          <a:blip r:embed="rId16"/>
          <a:stretch/>
        </p:blipFill>
        <p:spPr>
          <a:xfrm>
            <a:off x="23284440" y="29449440"/>
            <a:ext cx="897480" cy="1098360"/>
          </a:xfrm>
          <a:prstGeom prst="rect">
            <a:avLst/>
          </a:prstGeom>
          <a:ln w="0">
            <a:noFill/>
          </a:ln>
        </p:spPr>
      </p:pic>
      <p:pic>
        <p:nvPicPr>
          <p:cNvPr id="61" name="Picture 54" descr="Logo, icon&#10;&#10;Description automatically generated"/>
          <p:cNvPicPr/>
          <p:nvPr/>
        </p:nvPicPr>
        <p:blipFill>
          <a:blip r:embed="rId17"/>
          <a:stretch/>
        </p:blipFill>
        <p:spPr>
          <a:xfrm>
            <a:off x="23284440" y="32196600"/>
            <a:ext cx="897480" cy="1098360"/>
          </a:xfrm>
          <a:prstGeom prst="rect">
            <a:avLst/>
          </a:prstGeom>
          <a:ln w="0">
            <a:noFill/>
          </a:ln>
        </p:spPr>
      </p:pic>
      <p:pic>
        <p:nvPicPr>
          <p:cNvPr id="62" name="Picture 54" descr="Logo, icon&#10;&#10;Description automatically generated"/>
          <p:cNvPicPr/>
          <p:nvPr/>
        </p:nvPicPr>
        <p:blipFill>
          <a:blip r:embed="rId18"/>
          <a:stretch/>
        </p:blipFill>
        <p:spPr>
          <a:xfrm>
            <a:off x="23284440" y="34907760"/>
            <a:ext cx="897480" cy="1098360"/>
          </a:xfrm>
          <a:prstGeom prst="rect">
            <a:avLst/>
          </a:prstGeom>
          <a:ln w="0">
            <a:noFill/>
          </a:ln>
        </p:spPr>
      </p:pic>
      <p:sp>
        <p:nvSpPr>
          <p:cNvPr id="63" name=""/>
          <p:cNvSpPr/>
          <p:nvPr/>
        </p:nvSpPr>
        <p:spPr>
          <a:xfrm>
            <a:off x="1020600" y="29799000"/>
            <a:ext cx="6171480" cy="708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. Bottleneck y LoRA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 superan el baseline con hasta un 83.3% de exactitud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. Más parametros no es mejor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, el mejor resultado entrena solo el 0.166% de los pesos originales del modelo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. La ubicación es fundamental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, conservando el mismo número de parámetros, LoRA pasa de 62.5 % a 77.1 % de exactitud solo cambiando dónde se aplica, incluso, si se realiza de manera inteligente se obtiene una mejora de hasta 16.7%.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57800" y="22138200"/>
            <a:ext cx="11562840" cy="49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Bottleneck 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inserta pequeños módulos entrenables con conexión residual entre las capas congeladas del modelo, que comprimen y reexpanden la representación para adaptarla a la tarea.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12321000" y="22138200"/>
            <a:ext cx="10995840" cy="41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LoRA 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congela los pesos originales del modelo y aprende una actualización de bajo rango (W’ = W + BA) en las matrices de atención, entrenando una fracción mínima de parámetros.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6" name="Straight Connector 2"/>
          <p:cNvCxnSpPr/>
          <p:nvPr/>
        </p:nvCxnSpPr>
        <p:spPr>
          <a:xfrm>
            <a:off x="787680" y="7580160"/>
            <a:ext cx="22812480" cy="16560"/>
          </a:xfrm>
          <a:prstGeom prst="straightConnector1">
            <a:avLst/>
          </a:prstGeom>
          <a:ln w="27360">
            <a:solidFill>
              <a:srgbClr val="2ab9cb"/>
            </a:solidFill>
            <a:miter/>
          </a:ln>
        </p:spPr>
      </p:cxnSp>
      <p:cxnSp>
        <p:nvCxnSpPr>
          <p:cNvPr id="67" name="Straight Connector 3"/>
          <p:cNvCxnSpPr/>
          <p:nvPr/>
        </p:nvCxnSpPr>
        <p:spPr>
          <a:xfrm>
            <a:off x="787680" y="14960160"/>
            <a:ext cx="22812480" cy="16560"/>
          </a:xfrm>
          <a:prstGeom prst="straightConnector1">
            <a:avLst/>
          </a:prstGeom>
          <a:ln w="27360">
            <a:solidFill>
              <a:srgbClr val="2ab9cb"/>
            </a:solidFill>
            <a:miter/>
          </a:ln>
        </p:spPr>
      </p:cxnSp>
      <p:cxnSp>
        <p:nvCxnSpPr>
          <p:cNvPr id="68" name="Straight Connector 1"/>
          <p:cNvCxnSpPr/>
          <p:nvPr/>
        </p:nvCxnSpPr>
        <p:spPr>
          <a:xfrm>
            <a:off x="787680" y="22016160"/>
            <a:ext cx="22812480" cy="16560"/>
          </a:xfrm>
          <a:prstGeom prst="straightConnector1">
            <a:avLst/>
          </a:prstGeom>
          <a:ln w="27360">
            <a:solidFill>
              <a:srgbClr val="2ab9cb"/>
            </a:solidFill>
            <a:miter/>
          </a:ln>
        </p:spPr>
      </p:cxnSp>
      <p:cxnSp>
        <p:nvCxnSpPr>
          <p:cNvPr id="69" name="Straight Connector 4"/>
          <p:cNvCxnSpPr/>
          <p:nvPr/>
        </p:nvCxnSpPr>
        <p:spPr>
          <a:xfrm>
            <a:off x="787680" y="27632160"/>
            <a:ext cx="22812480" cy="16560"/>
          </a:xfrm>
          <a:prstGeom prst="straightConnector1">
            <a:avLst/>
          </a:prstGeom>
          <a:ln w="27360">
            <a:solidFill>
              <a:srgbClr val="2ab9cb"/>
            </a:solidFill>
            <a:miter/>
          </a:ln>
        </p:spPr>
      </p:cxnSp>
      <p:sp>
        <p:nvSpPr>
          <p:cNvPr id="70" name=""/>
          <p:cNvSpPr/>
          <p:nvPr/>
        </p:nvSpPr>
        <p:spPr>
          <a:xfrm>
            <a:off x="7569000" y="35503200"/>
            <a:ext cx="1287324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Exac.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: Exactitud; </a:t>
            </a: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Sens.: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 Sensibilidad;</a:t>
            </a: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 Esp.: 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Especificidad;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Param.: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 porcentaje de parámetros de wav2vec 2.0 que se entrenan.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9"/>
          <a:stretch/>
        </p:blipFill>
        <p:spPr>
          <a:xfrm>
            <a:off x="1024200" y="16435800"/>
            <a:ext cx="21378240" cy="5160960"/>
          </a:xfrm>
          <a:prstGeom prst="rect">
            <a:avLst/>
          </a:prstGeom>
          <a:ln w="0">
            <a:noFill/>
          </a:ln>
        </p:spPr>
      </p:pic>
      <p:pic>
        <p:nvPicPr>
          <p:cNvPr id="72" name="" descr=""/>
          <p:cNvPicPr/>
          <p:nvPr/>
        </p:nvPicPr>
        <p:blipFill>
          <a:blip r:embed="rId20"/>
          <a:stretch/>
        </p:blipFill>
        <p:spPr>
          <a:xfrm>
            <a:off x="12956400" y="23645160"/>
            <a:ext cx="8793000" cy="3822480"/>
          </a:xfrm>
          <a:prstGeom prst="rect">
            <a:avLst/>
          </a:prstGeom>
          <a:ln w="0">
            <a:noFill/>
          </a:ln>
        </p:spPr>
      </p:pic>
      <p:pic>
        <p:nvPicPr>
          <p:cNvPr id="73" name="" descr=""/>
          <p:cNvPicPr/>
          <p:nvPr/>
        </p:nvPicPr>
        <p:blipFill>
          <a:blip r:embed="rId21"/>
          <a:stretch/>
        </p:blipFill>
        <p:spPr>
          <a:xfrm>
            <a:off x="1828800" y="23630040"/>
            <a:ext cx="8000640" cy="3839760"/>
          </a:xfrm>
          <a:prstGeom prst="rect">
            <a:avLst/>
          </a:prstGeom>
          <a:ln w="0">
            <a:noFill/>
          </a:ln>
        </p:spPr>
      </p:pic>
      <p:pic>
        <p:nvPicPr>
          <p:cNvPr id="74" name="" descr=""/>
          <p:cNvPicPr/>
          <p:nvPr/>
        </p:nvPicPr>
        <p:blipFill>
          <a:blip r:embed="rId22"/>
          <a:stretch/>
        </p:blipFill>
        <p:spPr>
          <a:xfrm>
            <a:off x="7880400" y="28410120"/>
            <a:ext cx="13518000" cy="702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2022-09-13T19:42:38Z</dcterms:created>
  <dc:creator>David Garcia Cano</dc:creator>
  <dc:description/>
  <dc:language>en-US</dc:language>
  <cp:lastModifiedBy/>
  <cp:lastPrinted>2026-10-16T15:39:17Z</cp:lastPrinted>
  <dcterms:modified xsi:type="dcterms:W3CDTF">2026-10-16T18:02:41Z</dcterms:modified>
  <cp:revision>18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8EC498A6-9D3C-42A5-B822-D2C5CEB92701</vt:lpwstr>
  </property>
  <property fmtid="{D5CDD505-2E9C-101B-9397-08002B2CF9AE}" pid="3" name="ArticulatePath">
    <vt:lpwstr>Presentation1</vt:lpwstr>
  </property>
  <property fmtid="{D5CDD505-2E9C-101B-9397-08002B2CF9AE}" pid="4" name="ContentTypeId">
    <vt:lpwstr>0x010100E0EB4C5741BC274EBAAB5B79967DCE29</vt:lpwstr>
  </property>
  <property fmtid="{D5CDD505-2E9C-101B-9397-08002B2CF9AE}" pid="5" name="MediaServiceImageTags">
    <vt:lpwstr/>
  </property>
  <property fmtid="{D5CDD505-2E9C-101B-9397-08002B2CF9AE}" pid="6" name="PresentationFormat">
    <vt:lpwstr>Custom</vt:lpwstr>
  </property>
  <property fmtid="{D5CDD505-2E9C-101B-9397-08002B2CF9AE}" pid="7" name="Slides">
    <vt:r8>1</vt:r8>
  </property>
</Properties>
</file>